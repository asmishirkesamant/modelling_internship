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Open Sauce" panose="020B0604020202020204" charset="0"/>
      <p:regular r:id="rId27"/>
    </p:embeddedFont>
    <p:embeddedFont>
      <p:font typeface="Open Sauce Bold" panose="020B0604020202020204" charset="0"/>
      <p:regular r:id="rId28"/>
    </p:embeddedFont>
    <p:embeddedFont>
      <p:font typeface="Open Sauce Medium" panose="020B0604020202020204" charset="0"/>
      <p:regular r:id="rId29"/>
    </p:embeddedFont>
    <p:embeddedFont>
      <p:font typeface="Open Sauce Semi-Bold" panose="020B0604020202020204" charset="0"/>
      <p:regular r:id="rId30"/>
    </p:embeddedFont>
    <p:embeddedFont>
      <p:font typeface="Poppins" panose="00000500000000000000" pitchFamily="2" charset="0"/>
      <p:regular r:id="rId31"/>
    </p:embeddedFont>
    <p:embeddedFont>
      <p:font typeface="Poppi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www.geeksforgeeks.org/machine-learning/k-nearest-neighbours/?utm_source=chatgpt.com" TargetMode="External"/><Relationship Id="rId13" Type="http://schemas.openxmlformats.org/officeDocument/2006/relationships/hyperlink" Target="https://www.geeksforgeeks.org/machine-learning/confusion-matrix-machine-learning/" TargetMode="External"/><Relationship Id="rId3" Type="http://schemas.openxmlformats.org/officeDocument/2006/relationships/image" Target="../media/image2.png"/><Relationship Id="rId7" Type="http://schemas.openxmlformats.org/officeDocument/2006/relationships/hyperlink" Target="https://www.geeksforgeeks.org/machine-learning/naive-bayes-classifiers/?utm_source=chatgpt.com" TargetMode="External"/><Relationship Id="rId12" Type="http://schemas.openxmlformats.org/officeDocument/2006/relationships/hyperlink" Target="https://www.geeksforgeeks.org/machine-learning/f1-score-in-machine-learning/"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geeksforgeeks.org/machine-learning/ml-gradient-boosting/?utm_source=chatgpt.com" TargetMode="External"/><Relationship Id="rId11" Type="http://schemas.openxmlformats.org/officeDocument/2006/relationships/hyperlink" Target="https://www.geeksforgeeks.org/machine-learning/feature-importance-with-random-forests/" TargetMode="External"/><Relationship Id="rId5" Type="http://schemas.openxmlformats.org/officeDocument/2006/relationships/hyperlink" Target="https://www.geeksforgeeks.org/machine-learning/decision-tree-introduction-example/?utm_source=chatgpt.com" TargetMode="External"/><Relationship Id="rId10" Type="http://schemas.openxmlformats.org/officeDocument/2006/relationships/hyperlink" Target="https://www.geeksforgeeks.org/machine-learning/random-forest-algorithm-in-machine-learning/" TargetMode="External"/><Relationship Id="rId4" Type="http://schemas.openxmlformats.org/officeDocument/2006/relationships/hyperlink" Target="https://www.geeksforgeeks.org/machine-learning/support-vector-machine-algorithm/?utm_source=chatgpt.com" TargetMode="External"/><Relationship Id="rId9" Type="http://schemas.openxmlformats.org/officeDocument/2006/relationships/hyperlink" Target="https://www.geeksforgeeks.org/machine-learning/understanding-logistic-regression/?utm_source=chatgpt.com"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1028700" y="3193386"/>
            <a:ext cx="10155052" cy="1965964"/>
          </a:xfrm>
          <a:prstGeom prst="rect">
            <a:avLst/>
          </a:prstGeom>
        </p:spPr>
        <p:txBody>
          <a:bodyPr lIns="0" tIns="0" rIns="0" bIns="0" rtlCol="0" anchor="t">
            <a:spAutoFit/>
          </a:bodyPr>
          <a:lstStyle/>
          <a:p>
            <a:pPr algn="l">
              <a:lnSpc>
                <a:spcPts val="15120"/>
              </a:lnSpc>
            </a:pPr>
            <a:r>
              <a:rPr lang="en-US" sz="14000" spc="-826">
                <a:solidFill>
                  <a:srgbClr val="185079"/>
                </a:solidFill>
                <a:latin typeface="Open Sauce"/>
                <a:ea typeface="Open Sauce"/>
                <a:cs typeface="Open Sauce"/>
                <a:sym typeface="Open Sauce"/>
              </a:rPr>
              <a:t>ML MODEL</a:t>
            </a:r>
          </a:p>
        </p:txBody>
      </p:sp>
      <p:sp>
        <p:nvSpPr>
          <p:cNvPr id="4" name="Freeform 4"/>
          <p:cNvSpPr/>
          <p:nvPr/>
        </p:nvSpPr>
        <p:spPr>
          <a:xfrm>
            <a:off x="5608035" y="-4316939"/>
            <a:ext cx="22188662" cy="18920878"/>
          </a:xfrm>
          <a:custGeom>
            <a:avLst/>
            <a:gdLst/>
            <a:ahLst/>
            <a:cxnLst/>
            <a:rect l="l" t="t" r="r" b="b"/>
            <a:pathLst>
              <a:path w="22188662" h="18920878">
                <a:moveTo>
                  <a:pt x="0" y="0"/>
                </a:moveTo>
                <a:lnTo>
                  <a:pt x="22188662" y="0"/>
                </a:lnTo>
                <a:lnTo>
                  <a:pt x="22188662" y="18920878"/>
                </a:lnTo>
                <a:lnTo>
                  <a:pt x="0" y="18920878"/>
                </a:lnTo>
                <a:lnTo>
                  <a:pt x="0" y="0"/>
                </a:lnTo>
                <a:close/>
              </a:path>
            </a:pathLst>
          </a:custGeom>
          <a:blipFill>
            <a:blip r:embed="rId3"/>
            <a:stretch>
              <a:fillRect/>
            </a:stretch>
          </a:blipFill>
        </p:spPr>
      </p:sp>
      <p:sp>
        <p:nvSpPr>
          <p:cNvPr id="5" name="TextBox 5"/>
          <p:cNvSpPr txBox="1"/>
          <p:nvPr/>
        </p:nvSpPr>
        <p:spPr>
          <a:xfrm>
            <a:off x="1028700" y="5001928"/>
            <a:ext cx="13616443" cy="2253611"/>
          </a:xfrm>
          <a:prstGeom prst="rect">
            <a:avLst/>
          </a:prstGeom>
        </p:spPr>
        <p:txBody>
          <a:bodyPr lIns="0" tIns="0" rIns="0" bIns="0" rtlCol="0" anchor="t">
            <a:spAutoFit/>
          </a:bodyPr>
          <a:lstStyle/>
          <a:p>
            <a:pPr marL="0" lvl="0" indent="0" algn="l">
              <a:lnSpc>
                <a:spcPts val="17279"/>
              </a:lnSpc>
              <a:spcBef>
                <a:spcPct val="0"/>
              </a:spcBef>
            </a:pPr>
            <a:r>
              <a:rPr lang="en-US" sz="15999" b="1" spc="-943">
                <a:solidFill>
                  <a:srgbClr val="185079"/>
                </a:solidFill>
                <a:latin typeface="Open Sauce Semi-Bold"/>
                <a:ea typeface="Open Sauce Semi-Bold"/>
                <a:cs typeface="Open Sauce Semi-Bold"/>
                <a:sym typeface="Open Sauce Semi-Bold"/>
              </a:rPr>
              <a:t>RESEARCH</a:t>
            </a:r>
          </a:p>
        </p:txBody>
      </p:sp>
      <p:sp>
        <p:nvSpPr>
          <p:cNvPr id="6" name="TextBox 6"/>
          <p:cNvSpPr txBox="1"/>
          <p:nvPr/>
        </p:nvSpPr>
        <p:spPr>
          <a:xfrm>
            <a:off x="1028700" y="7284114"/>
            <a:ext cx="10155052" cy="469393"/>
          </a:xfrm>
          <a:prstGeom prst="rect">
            <a:avLst/>
          </a:prstGeom>
        </p:spPr>
        <p:txBody>
          <a:bodyPr lIns="0" tIns="0" rIns="0" bIns="0" rtlCol="0" anchor="t">
            <a:spAutoFit/>
          </a:bodyPr>
          <a:lstStyle/>
          <a:p>
            <a:pPr algn="l">
              <a:lnSpc>
                <a:spcPts val="3564"/>
              </a:lnSpc>
            </a:pPr>
            <a:r>
              <a:rPr lang="en-US" sz="3300" b="1" spc="-118">
                <a:solidFill>
                  <a:srgbClr val="185079"/>
                </a:solidFill>
                <a:latin typeface="Open Sauce Bold"/>
                <a:ea typeface="Open Sauce Bold"/>
                <a:cs typeface="Open Sauce Bold"/>
                <a:sym typeface="Open Sauce Bold"/>
              </a:rPr>
              <a:t>BY ASMI SHIRKE SAMANT, </a:t>
            </a:r>
            <a:r>
              <a:rPr lang="en-US" sz="3300" spc="-118">
                <a:solidFill>
                  <a:srgbClr val="185079"/>
                </a:solidFill>
                <a:latin typeface="Open Sauce"/>
                <a:ea typeface="Open Sauce"/>
                <a:cs typeface="Open Sauce"/>
                <a:sym typeface="Open Sauce"/>
              </a:rPr>
              <a:t>DATA SCIENCE INTERN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TextBox 5"/>
          <p:cNvSpPr txBox="1"/>
          <p:nvPr/>
        </p:nvSpPr>
        <p:spPr>
          <a:xfrm>
            <a:off x="2832396" y="2111272"/>
            <a:ext cx="6737800" cy="1109452"/>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CONTENTS</a:t>
            </a:r>
          </a:p>
        </p:txBody>
      </p:sp>
      <p:sp>
        <p:nvSpPr>
          <p:cNvPr id="6" name="TextBox 6"/>
          <p:cNvSpPr txBox="1"/>
          <p:nvPr/>
        </p:nvSpPr>
        <p:spPr>
          <a:xfrm>
            <a:off x="2406200" y="3211461"/>
            <a:ext cx="7440968" cy="6569449"/>
          </a:xfrm>
          <a:prstGeom prst="rect">
            <a:avLst/>
          </a:prstGeom>
        </p:spPr>
        <p:txBody>
          <a:bodyPr lIns="0" tIns="0" rIns="0" bIns="0" rtlCol="0" anchor="t">
            <a:spAutoFit/>
          </a:bodyPr>
          <a:lstStyle/>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 Imports, Setup, and Environment Initialization</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Data Acquisition and Structuring </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Exploratory Data Analysis (EDA) </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Data Engineering and Preprocessing </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Model Selection  </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Evaluation and Metrics </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Visualization</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Challenges faced</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Conclusion</a:t>
            </a:r>
          </a:p>
          <a:p>
            <a:pPr marL="546651" lvl="1" indent="-273325" algn="l">
              <a:lnSpc>
                <a:spcPts val="4785"/>
              </a:lnSpc>
              <a:buAutoNum type="arabicPeriod"/>
            </a:pPr>
            <a:r>
              <a:rPr lang="en-US" sz="2531" b="1" u="none">
                <a:solidFill>
                  <a:srgbClr val="185079"/>
                </a:solidFill>
                <a:latin typeface="Poppins Bold"/>
                <a:ea typeface="Poppins Bold"/>
                <a:cs typeface="Poppins Bold"/>
                <a:sym typeface="Poppins Bold"/>
              </a:rPr>
              <a:t>References</a:t>
            </a:r>
          </a:p>
        </p:txBody>
      </p:sp>
      <p:sp>
        <p:nvSpPr>
          <p:cNvPr id="7" name="TextBox 7"/>
          <p:cNvSpPr txBox="1"/>
          <p:nvPr/>
        </p:nvSpPr>
        <p:spPr>
          <a:xfrm>
            <a:off x="9847167" y="2111272"/>
            <a:ext cx="6682494" cy="1109452"/>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OBJECTIVE</a:t>
            </a:r>
          </a:p>
        </p:txBody>
      </p:sp>
      <p:sp>
        <p:nvSpPr>
          <p:cNvPr id="8" name="TextBox 8"/>
          <p:cNvSpPr txBox="1"/>
          <p:nvPr/>
        </p:nvSpPr>
        <p:spPr>
          <a:xfrm>
            <a:off x="9847167" y="3335286"/>
            <a:ext cx="6399616" cy="2286636"/>
          </a:xfrm>
          <a:prstGeom prst="rect">
            <a:avLst/>
          </a:prstGeom>
        </p:spPr>
        <p:txBody>
          <a:bodyPr lIns="0" tIns="0" rIns="0" bIns="0" rtlCol="0" anchor="t">
            <a:spAutoFit/>
          </a:bodyPr>
          <a:lstStyle/>
          <a:p>
            <a:pPr marL="0" lvl="0" indent="0" algn="l">
              <a:lnSpc>
                <a:spcPts val="3639"/>
              </a:lnSpc>
              <a:spcBef>
                <a:spcPct val="0"/>
              </a:spcBef>
            </a:pPr>
            <a:r>
              <a:rPr lang="en-US" sz="2599" b="1">
                <a:solidFill>
                  <a:srgbClr val="185079"/>
                </a:solidFill>
                <a:latin typeface="Poppins Bold"/>
                <a:ea typeface="Poppins Bold"/>
                <a:cs typeface="Poppins Bold"/>
                <a:sym typeface="Poppins Bold"/>
              </a:rPr>
              <a:t>Research and apply different machine learning models on the classic Iris dataset in order to understand real life Data Science workflow.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TextBox 2"/>
          <p:cNvSpPr txBox="1"/>
          <p:nvPr/>
        </p:nvSpPr>
        <p:spPr>
          <a:xfrm>
            <a:off x="1409700" y="2696905"/>
            <a:ext cx="6682494" cy="843915"/>
          </a:xfrm>
          <a:prstGeom prst="rect">
            <a:avLst/>
          </a:prstGeom>
        </p:spPr>
        <p:txBody>
          <a:bodyPr lIns="0" tIns="0" rIns="0" bIns="0" rtlCol="0" anchor="t">
            <a:spAutoFit/>
          </a:bodyPr>
          <a:lstStyle/>
          <a:p>
            <a:pPr marL="0" lvl="0" indent="0" algn="l">
              <a:lnSpc>
                <a:spcPts val="6480"/>
              </a:lnSpc>
              <a:spcBef>
                <a:spcPct val="0"/>
              </a:spcBef>
            </a:pPr>
            <a:r>
              <a:rPr lang="en-US" sz="6000" b="1" spc="-354">
                <a:solidFill>
                  <a:srgbClr val="185079"/>
                </a:solidFill>
                <a:latin typeface="Open Sauce Semi-Bold"/>
                <a:ea typeface="Open Sauce Semi-Bold"/>
                <a:cs typeface="Open Sauce Semi-Bold"/>
                <a:sym typeface="Open Sauce Semi-Bold"/>
              </a:rPr>
              <a:t>IMPORTS &amp; SET-UP</a:t>
            </a:r>
          </a:p>
        </p:txBody>
      </p:sp>
      <p:grpSp>
        <p:nvGrpSpPr>
          <p:cNvPr id="3" name="Group 3"/>
          <p:cNvGrpSpPr/>
          <p:nvPr/>
        </p:nvGrpSpPr>
        <p:grpSpPr>
          <a:xfrm>
            <a:off x="1409700" y="3662690"/>
            <a:ext cx="14603897" cy="5108932"/>
            <a:chOff x="0" y="0"/>
            <a:chExt cx="4975123" cy="1740465"/>
          </a:xfrm>
        </p:grpSpPr>
        <p:sp>
          <p:nvSpPr>
            <p:cNvPr id="4" name="Freeform 4"/>
            <p:cNvSpPr/>
            <p:nvPr/>
          </p:nvSpPr>
          <p:spPr>
            <a:xfrm>
              <a:off x="0" y="0"/>
              <a:ext cx="4975123" cy="1740465"/>
            </a:xfrm>
            <a:custGeom>
              <a:avLst/>
              <a:gdLst/>
              <a:ahLst/>
              <a:cxnLst/>
              <a:rect l="l" t="t" r="r" b="b"/>
              <a:pathLst>
                <a:path w="4975123" h="1740465">
                  <a:moveTo>
                    <a:pt x="11133" y="0"/>
                  </a:moveTo>
                  <a:lnTo>
                    <a:pt x="4963990" y="0"/>
                  </a:lnTo>
                  <a:cubicBezTo>
                    <a:pt x="4966943" y="0"/>
                    <a:pt x="4969775" y="1173"/>
                    <a:pt x="4971862" y="3261"/>
                  </a:cubicBezTo>
                  <a:cubicBezTo>
                    <a:pt x="4973950" y="5348"/>
                    <a:pt x="4975123" y="8180"/>
                    <a:pt x="4975123" y="11133"/>
                  </a:cubicBezTo>
                  <a:lnTo>
                    <a:pt x="4975123" y="1729332"/>
                  </a:lnTo>
                  <a:cubicBezTo>
                    <a:pt x="4975123" y="1735481"/>
                    <a:pt x="4970139" y="1740465"/>
                    <a:pt x="4963990" y="1740465"/>
                  </a:cubicBezTo>
                  <a:lnTo>
                    <a:pt x="11133" y="1740465"/>
                  </a:lnTo>
                  <a:cubicBezTo>
                    <a:pt x="4984" y="1740465"/>
                    <a:pt x="0" y="1735481"/>
                    <a:pt x="0" y="1729332"/>
                  </a:cubicBezTo>
                  <a:lnTo>
                    <a:pt x="0" y="11133"/>
                  </a:lnTo>
                  <a:cubicBezTo>
                    <a:pt x="0" y="4984"/>
                    <a:pt x="4984" y="0"/>
                    <a:pt x="11133" y="0"/>
                  </a:cubicBezTo>
                  <a:close/>
                </a:path>
              </a:pathLst>
            </a:custGeom>
            <a:solidFill>
              <a:srgbClr val="95BFD1"/>
            </a:solidFill>
            <a:ln cap="rnd">
              <a:noFill/>
              <a:prstDash val="solid"/>
              <a:round/>
            </a:ln>
          </p:spPr>
        </p:sp>
        <p:sp>
          <p:nvSpPr>
            <p:cNvPr id="5" name="TextBox 5"/>
            <p:cNvSpPr txBox="1"/>
            <p:nvPr/>
          </p:nvSpPr>
          <p:spPr>
            <a:xfrm>
              <a:off x="0" y="0"/>
              <a:ext cx="4975123" cy="1740465"/>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TextBox 6"/>
          <p:cNvSpPr txBox="1"/>
          <p:nvPr/>
        </p:nvSpPr>
        <p:spPr>
          <a:xfrm>
            <a:off x="2087971" y="3816447"/>
            <a:ext cx="13354284" cy="4563237"/>
          </a:xfrm>
          <a:prstGeom prst="rect">
            <a:avLst/>
          </a:prstGeom>
        </p:spPr>
        <p:txBody>
          <a:bodyPr lIns="0" tIns="0" rIns="0" bIns="0" rtlCol="0" anchor="t">
            <a:spAutoFit/>
          </a:bodyPr>
          <a:lstStyle/>
          <a:p>
            <a:pPr algn="l">
              <a:lnSpc>
                <a:spcPts val="4509"/>
              </a:lnSpc>
            </a:pPr>
            <a:r>
              <a:rPr lang="en-US" sz="2700" b="1">
                <a:solidFill>
                  <a:srgbClr val="000000"/>
                </a:solidFill>
                <a:latin typeface="Poppins Bold"/>
                <a:ea typeface="Poppins Bold"/>
                <a:cs typeface="Poppins Bold"/>
                <a:sym typeface="Poppins Bold"/>
              </a:rPr>
              <a:t>Libraries:</a:t>
            </a:r>
          </a:p>
          <a:p>
            <a:pPr marL="582930" lvl="1" indent="-291465" algn="l">
              <a:lnSpc>
                <a:spcPts val="4509"/>
              </a:lnSpc>
              <a:buAutoNum type="arabicPeriod"/>
            </a:pPr>
            <a:r>
              <a:rPr lang="en-US" sz="2700" b="1">
                <a:solidFill>
                  <a:srgbClr val="000000"/>
                </a:solidFill>
                <a:latin typeface="Poppins Bold"/>
                <a:ea typeface="Poppins Bold"/>
                <a:cs typeface="Poppins Bold"/>
                <a:sym typeface="Poppins Bold"/>
              </a:rPr>
              <a:t>pandas</a:t>
            </a:r>
            <a:r>
              <a:rPr lang="en-US" sz="2700">
                <a:solidFill>
                  <a:srgbClr val="000000"/>
                </a:solidFill>
                <a:latin typeface="Poppins"/>
                <a:ea typeface="Poppins"/>
                <a:cs typeface="Poppins"/>
                <a:sym typeface="Poppins"/>
              </a:rPr>
              <a:t>:  pandas for advanced tabular data manipulation and structural tracking.</a:t>
            </a:r>
          </a:p>
          <a:p>
            <a:pPr marL="582930" lvl="1" indent="-291465" algn="l">
              <a:lnSpc>
                <a:spcPts val="4509"/>
              </a:lnSpc>
              <a:buAutoNum type="arabicPeriod"/>
            </a:pPr>
            <a:r>
              <a:rPr lang="en-US" sz="2700" b="1">
                <a:solidFill>
                  <a:srgbClr val="000000"/>
                </a:solidFill>
                <a:latin typeface="Poppins Bold"/>
                <a:ea typeface="Poppins Bold"/>
                <a:cs typeface="Poppins Bold"/>
                <a:sym typeface="Poppins Bold"/>
              </a:rPr>
              <a:t>seaborn &amp; matplotlib</a:t>
            </a:r>
            <a:r>
              <a:rPr lang="en-US" sz="2700">
                <a:solidFill>
                  <a:srgbClr val="000000"/>
                </a:solidFill>
                <a:latin typeface="Poppins"/>
                <a:ea typeface="Poppins"/>
                <a:cs typeface="Poppins"/>
                <a:sym typeface="Poppins"/>
              </a:rPr>
              <a:t>: For Plotting graphs for feature-relationship matrices and visulaizations.</a:t>
            </a:r>
          </a:p>
          <a:p>
            <a:pPr marL="582930" lvl="1" indent="-291465" algn="l">
              <a:lnSpc>
                <a:spcPts val="4509"/>
              </a:lnSpc>
              <a:buAutoNum type="arabicPeriod"/>
            </a:pPr>
            <a:r>
              <a:rPr lang="en-US" sz="2700" b="1">
                <a:solidFill>
                  <a:srgbClr val="000000"/>
                </a:solidFill>
                <a:latin typeface="Poppins Bold"/>
                <a:ea typeface="Poppins Bold"/>
                <a:cs typeface="Poppins Bold"/>
                <a:sym typeface="Poppins Bold"/>
              </a:rPr>
              <a:t>sklearn (Scikit-Learn)</a:t>
            </a:r>
            <a:r>
              <a:rPr lang="en-US" sz="2700">
                <a:solidFill>
                  <a:srgbClr val="000000"/>
                </a:solidFill>
                <a:latin typeface="Poppins"/>
                <a:ea typeface="Poppins"/>
                <a:cs typeface="Poppins"/>
                <a:sym typeface="Poppins"/>
              </a:rPr>
              <a:t>: Used components (load_iris, train_test_split, cross_val_score, LogisticRegression) to construct the training, optimization, and evaluation mechanics.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775837" y="757775"/>
            <a:ext cx="16736327" cy="8771450"/>
            <a:chOff x="0" y="0"/>
            <a:chExt cx="4407921" cy="2310176"/>
          </a:xfrm>
        </p:grpSpPr>
        <p:sp>
          <p:nvSpPr>
            <p:cNvPr id="4" name="Freeform 4"/>
            <p:cNvSpPr/>
            <p:nvPr/>
          </p:nvSpPr>
          <p:spPr>
            <a:xfrm>
              <a:off x="0" y="0"/>
              <a:ext cx="4407921" cy="2310176"/>
            </a:xfrm>
            <a:custGeom>
              <a:avLst/>
              <a:gdLst/>
              <a:ahLst/>
              <a:cxnLst/>
              <a:rect l="l" t="t" r="r" b="b"/>
              <a:pathLst>
                <a:path w="4407921" h="2310176">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id="5" name="TextBox 5"/>
            <p:cNvSpPr txBox="1"/>
            <p:nvPr/>
          </p:nvSpPr>
          <p:spPr>
            <a:xfrm>
              <a:off x="0" y="-38100"/>
              <a:ext cx="4407921" cy="2348276"/>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flipH="1" flipV="1">
            <a:off x="10886510" y="757775"/>
            <a:ext cx="0" cy="8771450"/>
          </a:xfrm>
          <a:prstGeom prst="line">
            <a:avLst/>
          </a:prstGeom>
          <a:ln w="38100" cap="flat">
            <a:solidFill>
              <a:srgbClr val="185079"/>
            </a:solidFill>
            <a:prstDash val="solid"/>
            <a:headEnd type="none" w="sm" len="sm"/>
            <a:tailEnd type="none" w="sm" len="sm"/>
          </a:ln>
        </p:spPr>
      </p:sp>
      <p:grpSp>
        <p:nvGrpSpPr>
          <p:cNvPr id="7" name="Group 7"/>
          <p:cNvGrpSpPr/>
          <p:nvPr/>
        </p:nvGrpSpPr>
        <p:grpSpPr>
          <a:xfrm>
            <a:off x="10795312" y="1980339"/>
            <a:ext cx="182395" cy="18239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id="9" name="TextBox 9"/>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11500631" y="1716034"/>
            <a:ext cx="4742733" cy="72053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01</a:t>
            </a:r>
          </a:p>
        </p:txBody>
      </p:sp>
      <p:sp>
        <p:nvSpPr>
          <p:cNvPr id="11" name="TextBox 11"/>
          <p:cNvSpPr txBox="1"/>
          <p:nvPr/>
        </p:nvSpPr>
        <p:spPr>
          <a:xfrm>
            <a:off x="11500631" y="2509407"/>
            <a:ext cx="5047383" cy="1044990"/>
          </a:xfrm>
          <a:prstGeom prst="rect">
            <a:avLst/>
          </a:prstGeom>
        </p:spPr>
        <p:txBody>
          <a:bodyPr lIns="0" tIns="0" rIns="0" bIns="0" rtlCol="0" anchor="t">
            <a:spAutoFit/>
          </a:bodyPr>
          <a:lstStyle/>
          <a:p>
            <a:pPr marL="0" lvl="0" indent="0" algn="l">
              <a:lnSpc>
                <a:spcPts val="2777"/>
              </a:lnSpc>
            </a:pPr>
            <a:r>
              <a:rPr lang="en-US" sz="1983" b="1" spc="119">
                <a:solidFill>
                  <a:srgbClr val="185079"/>
                </a:solidFill>
                <a:latin typeface="Open Sauce Medium"/>
                <a:ea typeface="Open Sauce Medium"/>
                <a:cs typeface="Open Sauce Medium"/>
                <a:sym typeface="Open Sauce Medium"/>
              </a:rPr>
              <a:t>Pr</a:t>
            </a:r>
            <a:r>
              <a:rPr lang="en-US" sz="1983" b="1" u="none" spc="119">
                <a:solidFill>
                  <a:srgbClr val="185079"/>
                </a:solidFill>
                <a:latin typeface="Open Sauce Medium"/>
                <a:ea typeface="Open Sauce Medium"/>
                <a:cs typeface="Open Sauce Medium"/>
                <a:sym typeface="Open Sauce Medium"/>
              </a:rPr>
              <a:t>ogrammatically loading the source data using Scikit-Learn’s native load_iris() module.</a:t>
            </a:r>
          </a:p>
        </p:txBody>
      </p:sp>
      <p:sp>
        <p:nvSpPr>
          <p:cNvPr id="12" name="TextBox 12"/>
          <p:cNvSpPr txBox="1"/>
          <p:nvPr/>
        </p:nvSpPr>
        <p:spPr>
          <a:xfrm>
            <a:off x="11500631" y="4169060"/>
            <a:ext cx="4742733" cy="72053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02</a:t>
            </a:r>
          </a:p>
        </p:txBody>
      </p:sp>
      <p:sp>
        <p:nvSpPr>
          <p:cNvPr id="13" name="TextBox 13"/>
          <p:cNvSpPr txBox="1"/>
          <p:nvPr/>
        </p:nvSpPr>
        <p:spPr>
          <a:xfrm>
            <a:off x="11500631" y="4962434"/>
            <a:ext cx="5047383" cy="1397415"/>
          </a:xfrm>
          <a:prstGeom prst="rect">
            <a:avLst/>
          </a:prstGeom>
        </p:spPr>
        <p:txBody>
          <a:bodyPr lIns="0" tIns="0" rIns="0" bIns="0" rtlCol="0" anchor="t">
            <a:spAutoFit/>
          </a:bodyPr>
          <a:lstStyle/>
          <a:p>
            <a:pPr marL="0" lvl="0" indent="0" algn="l">
              <a:lnSpc>
                <a:spcPts val="2777"/>
              </a:lnSpc>
            </a:pPr>
            <a:r>
              <a:rPr lang="en-US" sz="1983" b="1" spc="119">
                <a:solidFill>
                  <a:srgbClr val="185079"/>
                </a:solidFill>
                <a:latin typeface="Open Sauce Medium"/>
                <a:ea typeface="Open Sauce Medium"/>
                <a:cs typeface="Open Sauce Medium"/>
                <a:sym typeface="Open Sauce Medium"/>
              </a:rPr>
              <a:t>C</a:t>
            </a:r>
            <a:r>
              <a:rPr lang="en-US" sz="1983" b="1" u="none" spc="119">
                <a:solidFill>
                  <a:srgbClr val="185079"/>
                </a:solidFill>
                <a:latin typeface="Open Sauce Medium"/>
                <a:ea typeface="Open Sauce Medium"/>
                <a:cs typeface="Open Sauce Medium"/>
                <a:sym typeface="Open Sauce Medium"/>
              </a:rPr>
              <a:t>onverting the raw array into a structured dataframe and identifying the target column, features, size of dataset, etc.</a:t>
            </a:r>
          </a:p>
        </p:txBody>
      </p:sp>
      <p:sp>
        <p:nvSpPr>
          <p:cNvPr id="14" name="TextBox 14"/>
          <p:cNvSpPr txBox="1"/>
          <p:nvPr/>
        </p:nvSpPr>
        <p:spPr>
          <a:xfrm>
            <a:off x="11500631" y="6625637"/>
            <a:ext cx="4742733" cy="72053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03</a:t>
            </a:r>
          </a:p>
        </p:txBody>
      </p:sp>
      <p:sp>
        <p:nvSpPr>
          <p:cNvPr id="15" name="TextBox 15"/>
          <p:cNvSpPr txBox="1"/>
          <p:nvPr/>
        </p:nvSpPr>
        <p:spPr>
          <a:xfrm>
            <a:off x="11500631" y="7419010"/>
            <a:ext cx="5047383" cy="657005"/>
          </a:xfrm>
          <a:prstGeom prst="rect">
            <a:avLst/>
          </a:prstGeom>
        </p:spPr>
        <p:txBody>
          <a:bodyPr lIns="0" tIns="0" rIns="0" bIns="0" rtlCol="0" anchor="t">
            <a:spAutoFit/>
          </a:bodyPr>
          <a:lstStyle/>
          <a:p>
            <a:pPr marL="0" lvl="0" indent="0" algn="l">
              <a:lnSpc>
                <a:spcPts val="2637"/>
              </a:lnSpc>
            </a:pPr>
            <a:r>
              <a:rPr lang="en-US" sz="1883" b="1" spc="113">
                <a:solidFill>
                  <a:srgbClr val="185079"/>
                </a:solidFill>
                <a:latin typeface="Open Sauce Medium"/>
                <a:ea typeface="Open Sauce Medium"/>
                <a:cs typeface="Open Sauce Medium"/>
                <a:sym typeface="Open Sauce Medium"/>
              </a:rPr>
              <a:t>Mapping categories to integer target keys.</a:t>
            </a:r>
          </a:p>
        </p:txBody>
      </p:sp>
      <p:grpSp>
        <p:nvGrpSpPr>
          <p:cNvPr id="16" name="Group 16"/>
          <p:cNvGrpSpPr/>
          <p:nvPr/>
        </p:nvGrpSpPr>
        <p:grpSpPr>
          <a:xfrm>
            <a:off x="10795312" y="4433365"/>
            <a:ext cx="182395" cy="18239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19" name="Group 19"/>
          <p:cNvGrpSpPr/>
          <p:nvPr/>
        </p:nvGrpSpPr>
        <p:grpSpPr>
          <a:xfrm>
            <a:off x="10795312" y="6889942"/>
            <a:ext cx="182395" cy="18239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22" name="Group 22"/>
          <p:cNvGrpSpPr/>
          <p:nvPr/>
        </p:nvGrpSpPr>
        <p:grpSpPr>
          <a:xfrm>
            <a:off x="1633812" y="2071537"/>
            <a:ext cx="8022429" cy="3107583"/>
            <a:chOff x="0" y="0"/>
            <a:chExt cx="2733008" cy="1058663"/>
          </a:xfrm>
        </p:grpSpPr>
        <p:sp>
          <p:nvSpPr>
            <p:cNvPr id="23" name="Freeform 23"/>
            <p:cNvSpPr/>
            <p:nvPr/>
          </p:nvSpPr>
          <p:spPr>
            <a:xfrm>
              <a:off x="0" y="0"/>
              <a:ext cx="2733008" cy="1058663"/>
            </a:xfrm>
            <a:custGeom>
              <a:avLst/>
              <a:gdLst/>
              <a:ahLst/>
              <a:cxnLst/>
              <a:rect l="l" t="t" r="r" b="b"/>
              <a:pathLst>
                <a:path w="2733008" h="1058663">
                  <a:moveTo>
                    <a:pt x="20266" y="0"/>
                  </a:moveTo>
                  <a:lnTo>
                    <a:pt x="2712743" y="0"/>
                  </a:lnTo>
                  <a:cubicBezTo>
                    <a:pt x="2718117" y="0"/>
                    <a:pt x="2723272" y="2135"/>
                    <a:pt x="2727073" y="5936"/>
                  </a:cubicBezTo>
                  <a:cubicBezTo>
                    <a:pt x="2730873" y="9736"/>
                    <a:pt x="2733008" y="14891"/>
                    <a:pt x="2733008" y="20266"/>
                  </a:cubicBezTo>
                  <a:lnTo>
                    <a:pt x="2733008" y="1038398"/>
                  </a:lnTo>
                  <a:cubicBezTo>
                    <a:pt x="2733008" y="1043772"/>
                    <a:pt x="2730873" y="1048927"/>
                    <a:pt x="2727073" y="1052728"/>
                  </a:cubicBezTo>
                  <a:cubicBezTo>
                    <a:pt x="2723272" y="1056528"/>
                    <a:pt x="2718117" y="1058663"/>
                    <a:pt x="2712743" y="1058663"/>
                  </a:cubicBezTo>
                  <a:lnTo>
                    <a:pt x="20266" y="1058663"/>
                  </a:lnTo>
                  <a:cubicBezTo>
                    <a:pt x="14891" y="1058663"/>
                    <a:pt x="9736" y="1056528"/>
                    <a:pt x="5936" y="1052728"/>
                  </a:cubicBezTo>
                  <a:cubicBezTo>
                    <a:pt x="2135" y="1048927"/>
                    <a:pt x="0" y="1043772"/>
                    <a:pt x="0" y="1038398"/>
                  </a:cubicBezTo>
                  <a:lnTo>
                    <a:pt x="0" y="20266"/>
                  </a:lnTo>
                  <a:cubicBezTo>
                    <a:pt x="0" y="14891"/>
                    <a:pt x="2135" y="9736"/>
                    <a:pt x="5936" y="5936"/>
                  </a:cubicBezTo>
                  <a:cubicBezTo>
                    <a:pt x="9736" y="2135"/>
                    <a:pt x="14891" y="0"/>
                    <a:pt x="20266" y="0"/>
                  </a:cubicBezTo>
                  <a:close/>
                </a:path>
              </a:pathLst>
            </a:custGeom>
            <a:solidFill>
              <a:srgbClr val="FBF6F1"/>
            </a:solidFill>
            <a:ln cap="rnd">
              <a:noFill/>
              <a:prstDash val="solid"/>
              <a:round/>
            </a:ln>
          </p:spPr>
        </p:sp>
        <p:sp>
          <p:nvSpPr>
            <p:cNvPr id="24" name="TextBox 24"/>
            <p:cNvSpPr txBox="1"/>
            <p:nvPr/>
          </p:nvSpPr>
          <p:spPr>
            <a:xfrm>
              <a:off x="0" y="0"/>
              <a:ext cx="2733008" cy="1058663"/>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25" name="TextBox 25"/>
          <p:cNvSpPr txBox="1"/>
          <p:nvPr/>
        </p:nvSpPr>
        <p:spPr>
          <a:xfrm>
            <a:off x="2076264" y="2417559"/>
            <a:ext cx="6737800" cy="24822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DATA ACQUISITION AND</a:t>
            </a:r>
            <a:r>
              <a:rPr lang="en-US" sz="5999" b="1" u="none" strike="noStrike" spc="-353">
                <a:solidFill>
                  <a:srgbClr val="185079"/>
                </a:solidFill>
                <a:latin typeface="Open Sauce Semi-Bold"/>
                <a:ea typeface="Open Sauce Semi-Bold"/>
                <a:cs typeface="Open Sauce Semi-Bold"/>
                <a:sym typeface="Open Sauce Semi-Bold"/>
              </a:rPr>
              <a:t> STRUCTURING</a:t>
            </a:r>
          </a:p>
        </p:txBody>
      </p:sp>
      <p:sp>
        <p:nvSpPr>
          <p:cNvPr id="26" name="TextBox 26"/>
          <p:cNvSpPr txBox="1"/>
          <p:nvPr/>
        </p:nvSpPr>
        <p:spPr>
          <a:xfrm>
            <a:off x="2076264" y="5273675"/>
            <a:ext cx="7897333" cy="3984625"/>
          </a:xfrm>
          <a:prstGeom prst="rect">
            <a:avLst/>
          </a:prstGeom>
        </p:spPr>
        <p:txBody>
          <a:bodyPr lIns="0" tIns="0" rIns="0" bIns="0" rtlCol="0" anchor="t">
            <a:spAutoFit/>
          </a:bodyPr>
          <a:lstStyle/>
          <a:p>
            <a:pPr marL="431801" lvl="1" indent="-215900" algn="l">
              <a:lnSpc>
                <a:spcPts val="3200"/>
              </a:lnSpc>
              <a:buFont typeface="Arial"/>
              <a:buChar char="•"/>
            </a:pPr>
            <a:r>
              <a:rPr lang="en-US" sz="2000" b="1" u="none" strike="noStrike">
                <a:solidFill>
                  <a:srgbClr val="185079"/>
                </a:solidFill>
                <a:latin typeface="Open Sauce Bold"/>
                <a:ea typeface="Open Sauce Bold"/>
                <a:cs typeface="Open Sauce Bold"/>
                <a:sym typeface="Open Sauce Bold"/>
              </a:rPr>
              <a:t>Executing .keys() to inspect metadata and crucial structural keys: data, target, feature_names, DESCR, and target_names.</a:t>
            </a:r>
          </a:p>
          <a:p>
            <a:pPr marL="431801" lvl="1" indent="-215900" algn="l">
              <a:lnSpc>
                <a:spcPts val="3200"/>
              </a:lnSpc>
              <a:buFont typeface="Arial"/>
              <a:buChar char="•"/>
            </a:pPr>
            <a:r>
              <a:rPr lang="en-US" sz="2000" b="1" u="none" strike="noStrike">
                <a:solidFill>
                  <a:srgbClr val="185079"/>
                </a:solidFill>
                <a:latin typeface="Open Sauce Bold"/>
                <a:ea typeface="Open Sauce Bold"/>
                <a:cs typeface="Open Sauce Bold"/>
                <a:sym typeface="Open Sauce Bold"/>
              </a:rPr>
              <a:t>Converting the raw array into a structured schema via pd.DataFrame(data=iris.data, columns=iris.feature_names) and embedding the target column.</a:t>
            </a:r>
          </a:p>
          <a:p>
            <a:pPr marL="431801" lvl="1" indent="-215900" algn="l">
              <a:lnSpc>
                <a:spcPts val="3200"/>
              </a:lnSpc>
              <a:buFont typeface="Arial"/>
              <a:buChar char="•"/>
            </a:pPr>
            <a:r>
              <a:rPr lang="en-US" sz="2000" b="1" u="none" strike="noStrike">
                <a:solidFill>
                  <a:srgbClr val="185079"/>
                </a:solidFill>
                <a:latin typeface="Open Sauce Bold"/>
                <a:ea typeface="Open Sauce Bold"/>
                <a:cs typeface="Open Sauce Bold"/>
                <a:sym typeface="Open Sauce Bold"/>
              </a:rPr>
              <a:t>Evaluating dimensions using df.shape() to verify a clean matrix layout of 150 total instances across 4 continuous features.</a:t>
            </a:r>
          </a:p>
          <a:p>
            <a:pPr marL="0" lvl="0" indent="0" algn="l">
              <a:lnSpc>
                <a:spcPts val="3200"/>
              </a:lnSpc>
            </a:pPr>
            <a:endParaRPr lang="en-US" sz="2000" b="1" u="none" strike="noStrike">
              <a:solidFill>
                <a:srgbClr val="185079"/>
              </a:solidFill>
              <a:latin typeface="Open Sauce Bold"/>
              <a:ea typeface="Open Sauce Bold"/>
              <a:cs typeface="Open Sauce Bold"/>
              <a:sym typeface="Open Sauce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4" name="Freeform 4"/>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5" name="AutoShape 5"/>
          <p:cNvSpPr/>
          <p:nvPr/>
        </p:nvSpPr>
        <p:spPr>
          <a:xfrm>
            <a:off x="-886757" y="4390981"/>
            <a:ext cx="20061513" cy="0"/>
          </a:xfrm>
          <a:prstGeom prst="line">
            <a:avLst/>
          </a:prstGeom>
          <a:ln w="28575" cap="flat">
            <a:solidFill>
              <a:srgbClr val="185079"/>
            </a:solidFill>
            <a:prstDash val="solid"/>
            <a:headEnd type="none" w="sm" len="sm"/>
            <a:tailEnd type="none" w="sm" len="sm"/>
          </a:ln>
        </p:spPr>
      </p:sp>
      <p:grpSp>
        <p:nvGrpSpPr>
          <p:cNvPr id="6" name="Group 6"/>
          <p:cNvGrpSpPr/>
          <p:nvPr/>
        </p:nvGrpSpPr>
        <p:grpSpPr>
          <a:xfrm>
            <a:off x="3903784" y="7958744"/>
            <a:ext cx="10474348" cy="1755140"/>
            <a:chOff x="0" y="0"/>
            <a:chExt cx="3568306" cy="597925"/>
          </a:xfrm>
        </p:grpSpPr>
        <p:sp>
          <p:nvSpPr>
            <p:cNvPr id="7" name="Freeform 7"/>
            <p:cNvSpPr/>
            <p:nvPr/>
          </p:nvSpPr>
          <p:spPr>
            <a:xfrm>
              <a:off x="0" y="0"/>
              <a:ext cx="3568306" cy="597925"/>
            </a:xfrm>
            <a:custGeom>
              <a:avLst/>
              <a:gdLst/>
              <a:ahLst/>
              <a:cxnLst/>
              <a:rect l="l" t="t" r="r" b="b"/>
              <a:pathLst>
                <a:path w="3568306" h="597925">
                  <a:moveTo>
                    <a:pt x="15522" y="0"/>
                  </a:moveTo>
                  <a:lnTo>
                    <a:pt x="3552784" y="0"/>
                  </a:lnTo>
                  <a:cubicBezTo>
                    <a:pt x="3561357" y="0"/>
                    <a:pt x="3568306" y="6949"/>
                    <a:pt x="3568306" y="15522"/>
                  </a:cubicBezTo>
                  <a:lnTo>
                    <a:pt x="3568306" y="582404"/>
                  </a:lnTo>
                  <a:cubicBezTo>
                    <a:pt x="3568306" y="586520"/>
                    <a:pt x="3566671" y="590468"/>
                    <a:pt x="3563760" y="593379"/>
                  </a:cubicBezTo>
                  <a:cubicBezTo>
                    <a:pt x="3560849" y="596290"/>
                    <a:pt x="3556901" y="597925"/>
                    <a:pt x="3552784" y="597925"/>
                  </a:cubicBezTo>
                  <a:lnTo>
                    <a:pt x="15522" y="597925"/>
                  </a:lnTo>
                  <a:cubicBezTo>
                    <a:pt x="11405" y="597925"/>
                    <a:pt x="7457" y="596290"/>
                    <a:pt x="4546" y="593379"/>
                  </a:cubicBezTo>
                  <a:cubicBezTo>
                    <a:pt x="1635" y="590468"/>
                    <a:pt x="0" y="586520"/>
                    <a:pt x="0" y="582404"/>
                  </a:cubicBezTo>
                  <a:lnTo>
                    <a:pt x="0" y="15522"/>
                  </a:lnTo>
                  <a:cubicBezTo>
                    <a:pt x="0" y="11405"/>
                    <a:pt x="1635" y="7457"/>
                    <a:pt x="4546" y="4546"/>
                  </a:cubicBezTo>
                  <a:cubicBezTo>
                    <a:pt x="7457" y="1635"/>
                    <a:pt x="11405" y="0"/>
                    <a:pt x="15522" y="0"/>
                  </a:cubicBezTo>
                  <a:close/>
                </a:path>
              </a:pathLst>
            </a:custGeom>
            <a:solidFill>
              <a:srgbClr val="FBF6F1"/>
            </a:solidFill>
            <a:ln cap="rnd">
              <a:noFill/>
              <a:prstDash val="solid"/>
              <a:round/>
            </a:ln>
          </p:spPr>
        </p:sp>
        <p:sp>
          <p:nvSpPr>
            <p:cNvPr id="8" name="TextBox 8"/>
            <p:cNvSpPr txBox="1"/>
            <p:nvPr/>
          </p:nvSpPr>
          <p:spPr>
            <a:xfrm>
              <a:off x="0" y="0"/>
              <a:ext cx="3568306" cy="597925"/>
            </a:xfrm>
            <a:prstGeom prst="rect">
              <a:avLst/>
            </a:prstGeom>
          </p:spPr>
          <p:txBody>
            <a:bodyPr lIns="50800" tIns="50800" rIns="50800" bIns="50800" rtlCol="0" anchor="ctr"/>
            <a:lstStyle/>
            <a:p>
              <a:pPr marL="0" lvl="0" indent="0" algn="ctr">
                <a:lnSpc>
                  <a:spcPts val="2879"/>
                </a:lnSpc>
                <a:spcBef>
                  <a:spcPct val="0"/>
                </a:spcBef>
              </a:pPr>
              <a:endParaRPr/>
            </a:p>
          </p:txBody>
        </p:sp>
      </p:grpSp>
      <p:grpSp>
        <p:nvGrpSpPr>
          <p:cNvPr id="9" name="Group 9"/>
          <p:cNvGrpSpPr/>
          <p:nvPr/>
        </p:nvGrpSpPr>
        <p:grpSpPr>
          <a:xfrm>
            <a:off x="2001429" y="4211205"/>
            <a:ext cx="359553" cy="35955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11" name="TextBox 11"/>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sp>
        <p:nvSpPr>
          <p:cNvPr id="12" name="TextBox 12"/>
          <p:cNvSpPr txBox="1"/>
          <p:nvPr/>
        </p:nvSpPr>
        <p:spPr>
          <a:xfrm>
            <a:off x="2001429" y="4932080"/>
            <a:ext cx="2197323" cy="679451"/>
          </a:xfrm>
          <a:prstGeom prst="rect">
            <a:avLst/>
          </a:prstGeom>
        </p:spPr>
        <p:txBody>
          <a:bodyPr lIns="0" tIns="0" rIns="0" bIns="0" rtlCol="0" anchor="t">
            <a:spAutoFit/>
          </a:bodyPr>
          <a:lstStyle/>
          <a:p>
            <a:pPr algn="l">
              <a:lnSpc>
                <a:spcPts val="5150"/>
              </a:lnSpc>
            </a:pPr>
            <a:r>
              <a:rPr lang="en-US" sz="5000" b="1">
                <a:solidFill>
                  <a:srgbClr val="185079"/>
                </a:solidFill>
                <a:latin typeface="Open Sauce Bold"/>
                <a:ea typeface="Open Sauce Bold"/>
                <a:cs typeface="Open Sauce Bold"/>
                <a:sym typeface="Open Sauce Bold"/>
              </a:rPr>
              <a:t>01.</a:t>
            </a:r>
          </a:p>
        </p:txBody>
      </p:sp>
      <p:sp>
        <p:nvSpPr>
          <p:cNvPr id="13" name="TextBox 13"/>
          <p:cNvSpPr txBox="1"/>
          <p:nvPr/>
        </p:nvSpPr>
        <p:spPr>
          <a:xfrm>
            <a:off x="5818080" y="4932080"/>
            <a:ext cx="2197323" cy="679451"/>
          </a:xfrm>
          <a:prstGeom prst="rect">
            <a:avLst/>
          </a:prstGeom>
        </p:spPr>
        <p:txBody>
          <a:bodyPr lIns="0" tIns="0" rIns="0" bIns="0" rtlCol="0" anchor="t">
            <a:spAutoFit/>
          </a:bodyPr>
          <a:lstStyle/>
          <a:p>
            <a:pPr algn="l">
              <a:lnSpc>
                <a:spcPts val="5150"/>
              </a:lnSpc>
            </a:pPr>
            <a:r>
              <a:rPr lang="en-US" sz="5000" b="1">
                <a:solidFill>
                  <a:srgbClr val="185079"/>
                </a:solidFill>
                <a:latin typeface="Open Sauce Bold"/>
                <a:ea typeface="Open Sauce Bold"/>
                <a:cs typeface="Open Sauce Bold"/>
                <a:sym typeface="Open Sauce Bold"/>
              </a:rPr>
              <a:t>02.</a:t>
            </a:r>
          </a:p>
        </p:txBody>
      </p:sp>
      <p:sp>
        <p:nvSpPr>
          <p:cNvPr id="14" name="TextBox 14"/>
          <p:cNvSpPr txBox="1"/>
          <p:nvPr/>
        </p:nvSpPr>
        <p:spPr>
          <a:xfrm>
            <a:off x="9630431" y="4932080"/>
            <a:ext cx="2197323" cy="679451"/>
          </a:xfrm>
          <a:prstGeom prst="rect">
            <a:avLst/>
          </a:prstGeom>
        </p:spPr>
        <p:txBody>
          <a:bodyPr lIns="0" tIns="0" rIns="0" bIns="0" rtlCol="0" anchor="t">
            <a:spAutoFit/>
          </a:bodyPr>
          <a:lstStyle/>
          <a:p>
            <a:pPr algn="l">
              <a:lnSpc>
                <a:spcPts val="5150"/>
              </a:lnSpc>
            </a:pPr>
            <a:r>
              <a:rPr lang="en-US" sz="5000" b="1">
                <a:solidFill>
                  <a:srgbClr val="185079"/>
                </a:solidFill>
                <a:latin typeface="Open Sauce Bold"/>
                <a:ea typeface="Open Sauce Bold"/>
                <a:cs typeface="Open Sauce Bold"/>
                <a:sym typeface="Open Sauce Bold"/>
              </a:rPr>
              <a:t>03.</a:t>
            </a:r>
          </a:p>
        </p:txBody>
      </p:sp>
      <p:sp>
        <p:nvSpPr>
          <p:cNvPr id="15" name="TextBox 15"/>
          <p:cNvSpPr txBox="1"/>
          <p:nvPr/>
        </p:nvSpPr>
        <p:spPr>
          <a:xfrm>
            <a:off x="13409422" y="4932080"/>
            <a:ext cx="2197323" cy="679451"/>
          </a:xfrm>
          <a:prstGeom prst="rect">
            <a:avLst/>
          </a:prstGeom>
        </p:spPr>
        <p:txBody>
          <a:bodyPr lIns="0" tIns="0" rIns="0" bIns="0" rtlCol="0" anchor="t">
            <a:spAutoFit/>
          </a:bodyPr>
          <a:lstStyle/>
          <a:p>
            <a:pPr algn="l">
              <a:lnSpc>
                <a:spcPts val="5150"/>
              </a:lnSpc>
            </a:pPr>
            <a:r>
              <a:rPr lang="en-US" sz="5000" b="1">
                <a:solidFill>
                  <a:srgbClr val="185079"/>
                </a:solidFill>
                <a:latin typeface="Open Sauce Bold"/>
                <a:ea typeface="Open Sauce Bold"/>
                <a:cs typeface="Open Sauce Bold"/>
                <a:sym typeface="Open Sauce Bold"/>
              </a:rPr>
              <a:t>04.</a:t>
            </a:r>
          </a:p>
        </p:txBody>
      </p:sp>
      <p:sp>
        <p:nvSpPr>
          <p:cNvPr id="16" name="TextBox 16"/>
          <p:cNvSpPr txBox="1"/>
          <p:nvPr/>
        </p:nvSpPr>
        <p:spPr>
          <a:xfrm>
            <a:off x="5799778" y="5773455"/>
            <a:ext cx="3075734" cy="2185289"/>
          </a:xfrm>
          <a:prstGeom prst="rect">
            <a:avLst/>
          </a:prstGeom>
        </p:spPr>
        <p:txBody>
          <a:bodyPr lIns="0" tIns="0" rIns="0" bIns="0" rtlCol="0" anchor="t">
            <a:spAutoFit/>
          </a:bodyPr>
          <a:lstStyle/>
          <a:p>
            <a:pPr algn="l">
              <a:lnSpc>
                <a:spcPts val="2532"/>
              </a:lnSpc>
            </a:pPr>
            <a:r>
              <a:rPr lang="en-US" sz="1699" b="1">
                <a:solidFill>
                  <a:srgbClr val="185079"/>
                </a:solidFill>
                <a:latin typeface="Open Sauce Bold"/>
                <a:ea typeface="Open Sauce Bold"/>
                <a:cs typeface="Open Sauce Bold"/>
                <a:sym typeface="Open Sauce Bold"/>
              </a:rPr>
              <a:t> Generating feature histograms (.hist()) across Sepal/Petal dimensions to assess metric distribution shapes, variance, and feature ranges.</a:t>
            </a:r>
          </a:p>
          <a:p>
            <a:pPr algn="l">
              <a:lnSpc>
                <a:spcPts val="2532"/>
              </a:lnSpc>
            </a:pPr>
            <a:endParaRPr lang="en-US" sz="1699" b="1">
              <a:solidFill>
                <a:srgbClr val="185079"/>
              </a:solidFill>
              <a:latin typeface="Open Sauce Bold"/>
              <a:ea typeface="Open Sauce Bold"/>
              <a:cs typeface="Open Sauce Bold"/>
              <a:sym typeface="Open Sauce Bold"/>
            </a:endParaRPr>
          </a:p>
        </p:txBody>
      </p:sp>
      <p:sp>
        <p:nvSpPr>
          <p:cNvPr id="17" name="TextBox 17"/>
          <p:cNvSpPr txBox="1"/>
          <p:nvPr/>
        </p:nvSpPr>
        <p:spPr>
          <a:xfrm>
            <a:off x="9593826" y="5773455"/>
            <a:ext cx="3075734" cy="1870964"/>
          </a:xfrm>
          <a:prstGeom prst="rect">
            <a:avLst/>
          </a:prstGeom>
        </p:spPr>
        <p:txBody>
          <a:bodyPr lIns="0" tIns="0" rIns="0" bIns="0" rtlCol="0" anchor="t">
            <a:spAutoFit/>
          </a:bodyPr>
          <a:lstStyle/>
          <a:p>
            <a:pPr algn="l">
              <a:lnSpc>
                <a:spcPts val="2532"/>
              </a:lnSpc>
            </a:pPr>
            <a:r>
              <a:rPr lang="en-US" sz="1699" b="1">
                <a:solidFill>
                  <a:srgbClr val="185079"/>
                </a:solidFill>
                <a:latin typeface="Open Sauce Bold"/>
                <a:ea typeface="Open Sauce Bold"/>
                <a:cs typeface="Open Sauce Bold"/>
                <a:sym typeface="Open Sauce Bold"/>
              </a:rPr>
              <a:t>Deploying sns.relplot with color-coded target hues to isolate how individual continuous variables relate to categorical class separation </a:t>
            </a:r>
          </a:p>
        </p:txBody>
      </p:sp>
      <p:sp>
        <p:nvSpPr>
          <p:cNvPr id="18" name="TextBox 18"/>
          <p:cNvSpPr txBox="1"/>
          <p:nvPr/>
        </p:nvSpPr>
        <p:spPr>
          <a:xfrm>
            <a:off x="13409422" y="5773455"/>
            <a:ext cx="3075734" cy="1556639"/>
          </a:xfrm>
          <a:prstGeom prst="rect">
            <a:avLst/>
          </a:prstGeom>
        </p:spPr>
        <p:txBody>
          <a:bodyPr lIns="0" tIns="0" rIns="0" bIns="0" rtlCol="0" anchor="t">
            <a:spAutoFit/>
          </a:bodyPr>
          <a:lstStyle/>
          <a:p>
            <a:pPr algn="l">
              <a:lnSpc>
                <a:spcPts val="2532"/>
              </a:lnSpc>
            </a:pPr>
            <a:r>
              <a:rPr lang="en-US" sz="1699" b="1">
                <a:solidFill>
                  <a:srgbClr val="185079"/>
                </a:solidFill>
                <a:latin typeface="Open Sauce Bold"/>
                <a:ea typeface="Open Sauce Bold"/>
                <a:cs typeface="Open Sauce Bold"/>
                <a:sym typeface="Open Sauce Bold"/>
              </a:rPr>
              <a:t>sns.pairplot(hue="target_name") to chart all multi-dimensional relationships simultaneously (Multivariate Cross-Correlation)</a:t>
            </a:r>
          </a:p>
        </p:txBody>
      </p:sp>
      <p:sp>
        <p:nvSpPr>
          <p:cNvPr id="19" name="TextBox 19"/>
          <p:cNvSpPr txBox="1"/>
          <p:nvPr/>
        </p:nvSpPr>
        <p:spPr>
          <a:xfrm>
            <a:off x="2001429" y="5773455"/>
            <a:ext cx="3075734" cy="2516823"/>
          </a:xfrm>
          <a:prstGeom prst="rect">
            <a:avLst/>
          </a:prstGeom>
        </p:spPr>
        <p:txBody>
          <a:bodyPr lIns="0" tIns="0" rIns="0" bIns="0" rtlCol="0" anchor="t">
            <a:spAutoFit/>
          </a:bodyPr>
          <a:lstStyle/>
          <a:p>
            <a:pPr algn="l">
              <a:lnSpc>
                <a:spcPts val="2532"/>
              </a:lnSpc>
            </a:pPr>
            <a:r>
              <a:rPr lang="en-US" sz="1699" b="1">
                <a:solidFill>
                  <a:srgbClr val="185079"/>
                </a:solidFill>
                <a:latin typeface="Open Sauce Bold"/>
                <a:ea typeface="Open Sauce Bold"/>
                <a:cs typeface="Open Sauce Bold"/>
                <a:sym typeface="Open Sauce Bold"/>
              </a:rPr>
              <a:t> Applying .describe() to compute feature-level means, standard deviations, quartiles, and range limits, ensuring no anomalous zero-values or extreme outliers exist.</a:t>
            </a:r>
          </a:p>
          <a:p>
            <a:pPr algn="l">
              <a:lnSpc>
                <a:spcPts val="2681"/>
              </a:lnSpc>
            </a:pPr>
            <a:endParaRPr lang="en-US" sz="1699" b="1">
              <a:solidFill>
                <a:srgbClr val="185079"/>
              </a:solidFill>
              <a:latin typeface="Open Sauce Bold"/>
              <a:ea typeface="Open Sauce Bold"/>
              <a:cs typeface="Open Sauce Bold"/>
              <a:sym typeface="Open Sauce Bold"/>
            </a:endParaRPr>
          </a:p>
        </p:txBody>
      </p:sp>
      <p:grpSp>
        <p:nvGrpSpPr>
          <p:cNvPr id="20" name="Group 20"/>
          <p:cNvGrpSpPr/>
          <p:nvPr/>
        </p:nvGrpSpPr>
        <p:grpSpPr>
          <a:xfrm>
            <a:off x="5818080" y="4211205"/>
            <a:ext cx="359553" cy="359553"/>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22" name="TextBox 22"/>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23" name="Group 23"/>
          <p:cNvGrpSpPr/>
          <p:nvPr/>
        </p:nvGrpSpPr>
        <p:grpSpPr>
          <a:xfrm>
            <a:off x="9593826" y="4211205"/>
            <a:ext cx="359553" cy="35955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25" name="TextBox 25"/>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26" name="Group 26"/>
          <p:cNvGrpSpPr/>
          <p:nvPr/>
        </p:nvGrpSpPr>
        <p:grpSpPr>
          <a:xfrm>
            <a:off x="13409422" y="4211205"/>
            <a:ext cx="359553" cy="35955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28" name="TextBox 28"/>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sp>
        <p:nvSpPr>
          <p:cNvPr id="29" name="TextBox 29"/>
          <p:cNvSpPr txBox="1"/>
          <p:nvPr/>
        </p:nvSpPr>
        <p:spPr>
          <a:xfrm>
            <a:off x="3477421" y="2265264"/>
            <a:ext cx="11333159" cy="1663065"/>
          </a:xfrm>
          <a:prstGeom prst="rect">
            <a:avLst/>
          </a:prstGeom>
        </p:spPr>
        <p:txBody>
          <a:bodyPr lIns="0" tIns="0" rIns="0" bIns="0" rtlCol="0" anchor="t">
            <a:spAutoFit/>
          </a:bodyPr>
          <a:lstStyle/>
          <a:p>
            <a:pPr marL="0" lvl="0" indent="0" algn="ctr">
              <a:lnSpc>
                <a:spcPts val="6480"/>
              </a:lnSpc>
              <a:spcBef>
                <a:spcPct val="0"/>
              </a:spcBef>
            </a:pPr>
            <a:r>
              <a:rPr lang="en-US" sz="6000" b="1" spc="-354">
                <a:solidFill>
                  <a:srgbClr val="185079"/>
                </a:solidFill>
                <a:latin typeface="Open Sauce Semi-Bold"/>
                <a:ea typeface="Open Sauce Semi-Bold"/>
                <a:cs typeface="Open Sauce Semi-Bold"/>
                <a:sym typeface="Open Sauce Semi-Bold"/>
              </a:rPr>
              <a:t>EXPLO</a:t>
            </a:r>
            <a:r>
              <a:rPr lang="en-US" sz="6000" b="1" u="none" strike="noStrike" spc="-354">
                <a:solidFill>
                  <a:srgbClr val="185079"/>
                </a:solidFill>
                <a:latin typeface="Open Sauce Semi-Bold"/>
                <a:ea typeface="Open Sauce Semi-Bold"/>
                <a:cs typeface="Open Sauce Semi-Bold"/>
                <a:sym typeface="Open Sauce Semi-Bold"/>
              </a:rPr>
              <a:t>RATORY DATA ANALYSIS (EDA) </a:t>
            </a:r>
          </a:p>
        </p:txBody>
      </p:sp>
      <p:sp>
        <p:nvSpPr>
          <p:cNvPr id="30" name="TextBox 30"/>
          <p:cNvSpPr txBox="1"/>
          <p:nvPr/>
        </p:nvSpPr>
        <p:spPr>
          <a:xfrm>
            <a:off x="4349734" y="7873019"/>
            <a:ext cx="9870909" cy="1840865"/>
          </a:xfrm>
          <a:prstGeom prst="rect">
            <a:avLst/>
          </a:prstGeom>
        </p:spPr>
        <p:txBody>
          <a:bodyPr lIns="0" tIns="0" rIns="0" bIns="0" rtlCol="0" anchor="t">
            <a:spAutoFit/>
          </a:bodyPr>
          <a:lstStyle/>
          <a:p>
            <a:pPr algn="ctr">
              <a:lnSpc>
                <a:spcPts val="2979"/>
              </a:lnSpc>
            </a:pPr>
            <a:endParaRPr/>
          </a:p>
          <a:p>
            <a:pPr algn="ctr">
              <a:lnSpc>
                <a:spcPts val="2979"/>
              </a:lnSpc>
            </a:pPr>
            <a:r>
              <a:rPr lang="en-US" sz="1999" b="1">
                <a:solidFill>
                  <a:srgbClr val="185079"/>
                </a:solidFill>
                <a:latin typeface="Open Sauce Bold"/>
                <a:ea typeface="Open Sauce Bold"/>
                <a:cs typeface="Open Sauce Bold"/>
                <a:sym typeface="Open Sauce Bold"/>
              </a:rPr>
              <a:t>Pairplots proved that Setosa forms a completely isolated, linearly separable cluster based on petal measurements, whereas Versicolor and Virginica share an overlapping boundary that we must handle. </a:t>
            </a:r>
          </a:p>
          <a:p>
            <a:pPr algn="ctr">
              <a:lnSpc>
                <a:spcPts val="2979"/>
              </a:lnSpc>
            </a:pPr>
            <a:endParaRPr lang="en-US" sz="1999" b="1">
              <a:solidFill>
                <a:srgbClr val="185079"/>
              </a:solidFill>
              <a:latin typeface="Open Sauce Bold"/>
              <a:ea typeface="Open Sauce Bold"/>
              <a:cs typeface="Open Sauce Bold"/>
              <a:sym typeface="Open Sauce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028700" y="2104620"/>
            <a:ext cx="9345747" cy="7296729"/>
          </a:xfrm>
          <a:custGeom>
            <a:avLst/>
            <a:gdLst/>
            <a:ahLst/>
            <a:cxnLst/>
            <a:rect l="l" t="t" r="r" b="b"/>
            <a:pathLst>
              <a:path w="9345747" h="7296729">
                <a:moveTo>
                  <a:pt x="0" y="0"/>
                </a:moveTo>
                <a:lnTo>
                  <a:pt x="9345747" y="0"/>
                </a:lnTo>
                <a:lnTo>
                  <a:pt x="9345747" y="7296729"/>
                </a:lnTo>
                <a:lnTo>
                  <a:pt x="0" y="7296729"/>
                </a:lnTo>
                <a:lnTo>
                  <a:pt x="0" y="0"/>
                </a:lnTo>
                <a:close/>
              </a:path>
            </a:pathLst>
          </a:custGeom>
          <a:blipFill>
            <a:blip r:embed="rId4"/>
            <a:stretch>
              <a:fillRect/>
            </a:stretch>
          </a:blipFill>
        </p:spPr>
      </p:sp>
      <p:sp>
        <p:nvSpPr>
          <p:cNvPr id="6" name="TextBox 6"/>
          <p:cNvSpPr txBox="1"/>
          <p:nvPr/>
        </p:nvSpPr>
        <p:spPr>
          <a:xfrm>
            <a:off x="10822424" y="2171295"/>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EDA CNTD:</a:t>
            </a:r>
          </a:p>
        </p:txBody>
      </p:sp>
      <p:sp>
        <p:nvSpPr>
          <p:cNvPr id="7" name="TextBox 7"/>
          <p:cNvSpPr txBox="1"/>
          <p:nvPr/>
        </p:nvSpPr>
        <p:spPr>
          <a:xfrm>
            <a:off x="10822424" y="3128184"/>
            <a:ext cx="6218022" cy="6273165"/>
          </a:xfrm>
          <a:prstGeom prst="rect">
            <a:avLst/>
          </a:prstGeom>
        </p:spPr>
        <p:txBody>
          <a:bodyPr lIns="0" tIns="0" rIns="0" bIns="0" rtlCol="0" anchor="t">
            <a:spAutoFit/>
          </a:bodyPr>
          <a:lstStyle/>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Plots a histogram per feature, with all three species overlaid for direct comparison</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Each bar represents the frequency of flowers falling within a measurement range</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Low overlap between species curves indicates high discriminative power for that feature</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Petal length and petal width show minimal overlap across species = strong predictors</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Sepal width shows significant overlap = weak predictor on its own</a:t>
            </a:r>
          </a:p>
          <a:p>
            <a:pPr algn="l">
              <a:lnSpc>
                <a:spcPts val="3359"/>
              </a:lnSpc>
            </a:pPr>
            <a:endParaRPr lang="en-US" sz="2399">
              <a:solidFill>
                <a:srgbClr val="185079"/>
              </a:solidFill>
              <a:latin typeface="Open Sauce"/>
              <a:ea typeface="Open Sauce"/>
              <a:cs typeface="Open Sauce"/>
              <a:sym typeface="Open Sau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941347" y="1961571"/>
            <a:ext cx="8254886" cy="7296729"/>
          </a:xfrm>
          <a:custGeom>
            <a:avLst/>
            <a:gdLst/>
            <a:ahLst/>
            <a:cxnLst/>
            <a:rect l="l" t="t" r="r" b="b"/>
            <a:pathLst>
              <a:path w="8254886" h="7296729">
                <a:moveTo>
                  <a:pt x="0" y="0"/>
                </a:moveTo>
                <a:lnTo>
                  <a:pt x="8254886" y="0"/>
                </a:lnTo>
                <a:lnTo>
                  <a:pt x="8254886" y="7296729"/>
                </a:lnTo>
                <a:lnTo>
                  <a:pt x="0" y="7296729"/>
                </a:lnTo>
                <a:lnTo>
                  <a:pt x="0" y="0"/>
                </a:lnTo>
                <a:close/>
              </a:path>
            </a:pathLst>
          </a:custGeom>
          <a:blipFill>
            <a:blip r:embed="rId4"/>
            <a:stretch>
              <a:fillRect/>
            </a:stretch>
          </a:blipFill>
        </p:spPr>
      </p:sp>
      <p:sp>
        <p:nvSpPr>
          <p:cNvPr id="6" name="TextBox 6"/>
          <p:cNvSpPr txBox="1"/>
          <p:nvPr/>
        </p:nvSpPr>
        <p:spPr>
          <a:xfrm>
            <a:off x="10822424" y="2171295"/>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EDA CNTD:</a:t>
            </a:r>
          </a:p>
        </p:txBody>
      </p:sp>
      <p:sp>
        <p:nvSpPr>
          <p:cNvPr id="7" name="TextBox 7"/>
          <p:cNvSpPr txBox="1"/>
          <p:nvPr/>
        </p:nvSpPr>
        <p:spPr>
          <a:xfrm>
            <a:off x="10521500" y="3186439"/>
            <a:ext cx="6737800" cy="5854065"/>
          </a:xfrm>
          <a:prstGeom prst="rect">
            <a:avLst/>
          </a:prstGeom>
        </p:spPr>
        <p:txBody>
          <a:bodyPr lIns="0" tIns="0" rIns="0" bIns="0" rtlCol="0" anchor="t">
            <a:spAutoFit/>
          </a:bodyPr>
          <a:lstStyle/>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Generates scatterplots for every possible feature pair, colored by species</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Diagonal panels show the distribution of each individual feature rather than a scatterplot</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corner=True renders only the lower triangle, eliminating redundant mirrored panels</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The petal length vs petal width panel shows near-perfect class separation, which directly explains why these features carry the highest importance scores in the Random Forest model later</a:t>
            </a:r>
          </a:p>
          <a:p>
            <a:pPr algn="l">
              <a:lnSpc>
                <a:spcPts val="3359"/>
              </a:lnSpc>
            </a:pPr>
            <a:endParaRPr lang="en-US" sz="2399">
              <a:solidFill>
                <a:srgbClr val="185079"/>
              </a:solidFill>
              <a:latin typeface="Open Sauce"/>
              <a:ea typeface="Open Sauce"/>
              <a:cs typeface="Open Sauce"/>
              <a:sym typeface="Open Sau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1409700" y="3238674"/>
            <a:ext cx="14603897" cy="5532949"/>
            <a:chOff x="0" y="0"/>
            <a:chExt cx="4975123" cy="1884915"/>
          </a:xfrm>
        </p:grpSpPr>
        <p:sp>
          <p:nvSpPr>
            <p:cNvPr id="3" name="Freeform 3"/>
            <p:cNvSpPr/>
            <p:nvPr/>
          </p:nvSpPr>
          <p:spPr>
            <a:xfrm>
              <a:off x="0" y="0"/>
              <a:ext cx="4975123" cy="1884915"/>
            </a:xfrm>
            <a:custGeom>
              <a:avLst/>
              <a:gdLst/>
              <a:ahLst/>
              <a:cxnLst/>
              <a:rect l="l" t="t" r="r" b="b"/>
              <a:pathLst>
                <a:path w="4975123" h="1884915">
                  <a:moveTo>
                    <a:pt x="11133" y="0"/>
                  </a:moveTo>
                  <a:lnTo>
                    <a:pt x="4963990" y="0"/>
                  </a:lnTo>
                  <a:cubicBezTo>
                    <a:pt x="4966943" y="0"/>
                    <a:pt x="4969775" y="1173"/>
                    <a:pt x="4971862" y="3261"/>
                  </a:cubicBezTo>
                  <a:cubicBezTo>
                    <a:pt x="4973950" y="5348"/>
                    <a:pt x="4975123" y="8180"/>
                    <a:pt x="4975123" y="11133"/>
                  </a:cubicBezTo>
                  <a:lnTo>
                    <a:pt x="4975123" y="1873782"/>
                  </a:lnTo>
                  <a:cubicBezTo>
                    <a:pt x="4975123" y="1879931"/>
                    <a:pt x="4970139" y="1884915"/>
                    <a:pt x="4963990" y="1884915"/>
                  </a:cubicBezTo>
                  <a:lnTo>
                    <a:pt x="11133" y="1884915"/>
                  </a:lnTo>
                  <a:cubicBezTo>
                    <a:pt x="4984" y="1884915"/>
                    <a:pt x="0" y="1879931"/>
                    <a:pt x="0" y="1873782"/>
                  </a:cubicBezTo>
                  <a:lnTo>
                    <a:pt x="0" y="11133"/>
                  </a:lnTo>
                  <a:cubicBezTo>
                    <a:pt x="0" y="4984"/>
                    <a:pt x="4984" y="0"/>
                    <a:pt x="11133" y="0"/>
                  </a:cubicBezTo>
                  <a:close/>
                </a:path>
              </a:pathLst>
            </a:custGeom>
            <a:solidFill>
              <a:srgbClr val="95BFD1"/>
            </a:solidFill>
            <a:ln cap="rnd">
              <a:noFill/>
              <a:prstDash val="solid"/>
              <a:round/>
            </a:ln>
          </p:spPr>
        </p:sp>
        <p:sp>
          <p:nvSpPr>
            <p:cNvPr id="4" name="TextBox 4"/>
            <p:cNvSpPr txBox="1"/>
            <p:nvPr/>
          </p:nvSpPr>
          <p:spPr>
            <a:xfrm>
              <a:off x="0" y="0"/>
              <a:ext cx="4975123" cy="1884915"/>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5" name="TextBox 5"/>
          <p:cNvSpPr txBox="1"/>
          <p:nvPr/>
        </p:nvSpPr>
        <p:spPr>
          <a:xfrm>
            <a:off x="2034506" y="3483216"/>
            <a:ext cx="13354284" cy="5511037"/>
          </a:xfrm>
          <a:prstGeom prst="rect">
            <a:avLst/>
          </a:prstGeom>
        </p:spPr>
        <p:txBody>
          <a:bodyPr lIns="0" tIns="0" rIns="0" bIns="0" rtlCol="0" anchor="t">
            <a:spAutoFit/>
          </a:bodyPr>
          <a:lstStyle/>
          <a:p>
            <a:pPr marL="474983" lvl="1" indent="-237491" algn="l">
              <a:lnSpc>
                <a:spcPts val="3674"/>
              </a:lnSpc>
              <a:buFont typeface="Arial"/>
              <a:buChar char="•"/>
            </a:pPr>
            <a:r>
              <a:rPr lang="en-US" sz="2200" b="1">
                <a:solidFill>
                  <a:srgbClr val="000000"/>
                </a:solidFill>
                <a:latin typeface="Poppins Bold"/>
                <a:ea typeface="Poppins Bold"/>
                <a:cs typeface="Poppins Bold"/>
                <a:sym typeface="Poppins Bold"/>
              </a:rPr>
              <a:t>Need for Standard Scaler: </a:t>
            </a:r>
          </a:p>
          <a:p>
            <a:pPr algn="l">
              <a:lnSpc>
                <a:spcPts val="3674"/>
              </a:lnSpc>
            </a:pPr>
            <a:r>
              <a:rPr lang="en-US" sz="2200">
                <a:solidFill>
                  <a:srgbClr val="000000"/>
                </a:solidFill>
                <a:latin typeface="Poppins"/>
                <a:ea typeface="Poppins"/>
                <a:cs typeface="Poppins"/>
                <a:sym typeface="Poppins"/>
              </a:rPr>
              <a:t>Many machine learning models perform poorly if numerical features are on wildly different scales. Features with larger raw ranges can artificially dominate the model's loss function.</a:t>
            </a:r>
          </a:p>
          <a:p>
            <a:pPr marL="474983" lvl="1" indent="-237491" algn="l">
              <a:lnSpc>
                <a:spcPts val="3674"/>
              </a:lnSpc>
              <a:buFont typeface="Arial"/>
              <a:buChar char="•"/>
            </a:pPr>
            <a:r>
              <a:rPr lang="en-US" sz="2200" b="1">
                <a:solidFill>
                  <a:srgbClr val="000000"/>
                </a:solidFill>
                <a:latin typeface="Poppins Bold"/>
                <a:ea typeface="Poppins Bold"/>
                <a:cs typeface="Poppins Bold"/>
                <a:sym typeface="Poppins Bold"/>
              </a:rPr>
              <a:t>Pipeline to use Standard Scaler:</a:t>
            </a:r>
          </a:p>
          <a:p>
            <a:pPr algn="l">
              <a:lnSpc>
                <a:spcPts val="3674"/>
              </a:lnSpc>
            </a:pPr>
            <a:endParaRPr lang="en-US" sz="2200" b="1">
              <a:solidFill>
                <a:srgbClr val="000000"/>
              </a:solidFill>
              <a:latin typeface="Poppins Bold"/>
              <a:ea typeface="Poppins Bold"/>
              <a:cs typeface="Poppins Bold"/>
              <a:sym typeface="Poppins Bold"/>
            </a:endParaRPr>
          </a:p>
          <a:p>
            <a:pPr marL="474983" lvl="1" indent="-237491" algn="l">
              <a:lnSpc>
                <a:spcPts val="3674"/>
              </a:lnSpc>
              <a:buFont typeface="Arial"/>
              <a:buChar char="•"/>
            </a:pPr>
            <a:r>
              <a:rPr lang="en-US" sz="2200" b="1">
                <a:solidFill>
                  <a:srgbClr val="000000"/>
                </a:solidFill>
                <a:latin typeface="Poppins Bold"/>
                <a:ea typeface="Poppins Bold"/>
                <a:cs typeface="Poppins Bold"/>
                <a:sym typeface="Poppins Bold"/>
              </a:rPr>
              <a:t>Impact: </a:t>
            </a:r>
          </a:p>
          <a:p>
            <a:pPr algn="l">
              <a:lnSpc>
                <a:spcPts val="3674"/>
              </a:lnSpc>
            </a:pPr>
            <a:r>
              <a:rPr lang="en-US" sz="2200">
                <a:solidFill>
                  <a:srgbClr val="000000"/>
                </a:solidFill>
                <a:latin typeface="Poppins"/>
                <a:ea typeface="Poppins"/>
                <a:cs typeface="Poppins"/>
                <a:sym typeface="Poppins"/>
              </a:rPr>
              <a:t>Standardizing features to have a mean of 0 and a variance of 1 ensures that every measurement contributes equally to model convergence, preventing computational bias and weight distortion.</a:t>
            </a:r>
          </a:p>
          <a:p>
            <a:pPr marL="474983" lvl="1" indent="-237491" algn="l">
              <a:lnSpc>
                <a:spcPts val="3674"/>
              </a:lnSpc>
              <a:buFont typeface="Arial"/>
              <a:buChar char="•"/>
            </a:pPr>
            <a:r>
              <a:rPr lang="en-US" sz="2200" b="1">
                <a:solidFill>
                  <a:srgbClr val="000000"/>
                </a:solidFill>
                <a:latin typeface="Poppins Bold"/>
                <a:ea typeface="Poppins Bold"/>
                <a:cs typeface="Poppins Bold"/>
                <a:sym typeface="Poppins Bold"/>
              </a:rPr>
              <a:t>Data Splitting Architecture</a:t>
            </a:r>
            <a:r>
              <a:rPr lang="en-US" sz="2200">
                <a:solidFill>
                  <a:srgbClr val="000000"/>
                </a:solidFill>
                <a:latin typeface="Poppins"/>
                <a:ea typeface="Poppins"/>
                <a:cs typeface="Poppins"/>
                <a:sym typeface="Poppins"/>
              </a:rPr>
              <a:t>: Executing a strict 75/25 train_test_split to get two sets of data: one to train the model on, one to test the model.</a:t>
            </a:r>
          </a:p>
          <a:p>
            <a:pPr algn="l">
              <a:lnSpc>
                <a:spcPts val="4008"/>
              </a:lnSpc>
            </a:pPr>
            <a:endParaRPr lang="en-US" sz="2200">
              <a:solidFill>
                <a:srgbClr val="000000"/>
              </a:solidFill>
              <a:latin typeface="Poppins"/>
              <a:ea typeface="Poppins"/>
              <a:cs typeface="Poppins"/>
              <a:sym typeface="Poppins"/>
            </a:endParaRPr>
          </a:p>
        </p:txBody>
      </p:sp>
      <p:sp>
        <p:nvSpPr>
          <p:cNvPr id="6" name="Freeform 6"/>
          <p:cNvSpPr/>
          <p:nvPr/>
        </p:nvSpPr>
        <p:spPr>
          <a:xfrm>
            <a:off x="13045910" y="5104917"/>
            <a:ext cx="2038126" cy="804523"/>
          </a:xfrm>
          <a:custGeom>
            <a:avLst/>
            <a:gdLst/>
            <a:ahLst/>
            <a:cxnLst/>
            <a:rect l="l" t="t" r="r" b="b"/>
            <a:pathLst>
              <a:path w="2038126" h="804523">
                <a:moveTo>
                  <a:pt x="0" y="0"/>
                </a:moveTo>
                <a:lnTo>
                  <a:pt x="2038126" y="0"/>
                </a:lnTo>
                <a:lnTo>
                  <a:pt x="2038126" y="804523"/>
                </a:lnTo>
                <a:lnTo>
                  <a:pt x="0" y="804523"/>
                </a:lnTo>
                <a:lnTo>
                  <a:pt x="0" y="0"/>
                </a:lnTo>
                <a:close/>
              </a:path>
            </a:pathLst>
          </a:custGeom>
          <a:blipFill>
            <a:blip r:embed="rId2"/>
            <a:stretch>
              <a:fillRect/>
            </a:stretch>
          </a:blipFill>
        </p:spPr>
      </p:sp>
      <p:sp>
        <p:nvSpPr>
          <p:cNvPr id="7" name="TextBox 7"/>
          <p:cNvSpPr txBox="1"/>
          <p:nvPr/>
        </p:nvSpPr>
        <p:spPr>
          <a:xfrm>
            <a:off x="1409700" y="2254454"/>
            <a:ext cx="16250510" cy="843915"/>
          </a:xfrm>
          <a:prstGeom prst="rect">
            <a:avLst/>
          </a:prstGeom>
        </p:spPr>
        <p:txBody>
          <a:bodyPr lIns="0" tIns="0" rIns="0" bIns="0" rtlCol="0" anchor="t">
            <a:spAutoFit/>
          </a:bodyPr>
          <a:lstStyle/>
          <a:p>
            <a:pPr marL="0" lvl="0" indent="0" algn="l">
              <a:lnSpc>
                <a:spcPts val="6480"/>
              </a:lnSpc>
              <a:spcBef>
                <a:spcPct val="0"/>
              </a:spcBef>
            </a:pPr>
            <a:r>
              <a:rPr lang="en-US" sz="6000" b="1" spc="-354">
                <a:solidFill>
                  <a:srgbClr val="185079"/>
                </a:solidFill>
                <a:latin typeface="Open Sauce Semi-Bold"/>
                <a:ea typeface="Open Sauce Semi-Bold"/>
                <a:cs typeface="Open Sauce Semi-Bold"/>
                <a:sym typeface="Open Sauce Semi-Bold"/>
              </a:rPr>
              <a:t>DATA ENGINEERING AND PREPROCESSING </a:t>
            </a:r>
          </a:p>
        </p:txBody>
      </p:sp>
      <p:sp>
        <p:nvSpPr>
          <p:cNvPr id="8" name="TextBox 8"/>
          <p:cNvSpPr txBox="1"/>
          <p:nvPr/>
        </p:nvSpPr>
        <p:spPr>
          <a:xfrm>
            <a:off x="2034506" y="5282706"/>
            <a:ext cx="10579174" cy="391795"/>
          </a:xfrm>
          <a:prstGeom prst="rect">
            <a:avLst/>
          </a:prstGeom>
        </p:spPr>
        <p:txBody>
          <a:bodyPr lIns="0" tIns="0" rIns="0" bIns="0" rtlCol="0" anchor="t">
            <a:spAutoFit/>
          </a:bodyPr>
          <a:lstStyle/>
          <a:p>
            <a:pPr algn="l">
              <a:lnSpc>
                <a:spcPts val="3079"/>
              </a:lnSpc>
            </a:pPr>
            <a:r>
              <a:rPr lang="en-US" sz="2199">
                <a:solidFill>
                  <a:srgbClr val="000000"/>
                </a:solidFill>
                <a:latin typeface="Poppins"/>
                <a:ea typeface="Poppins"/>
                <a:cs typeface="Poppins"/>
                <a:sym typeface="Poppins"/>
              </a:rPr>
              <a:t>Used the make_pipeline function to skip manual scaling with the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grpSp>
        <p:nvGrpSpPr>
          <p:cNvPr id="4" name="Group 4"/>
          <p:cNvGrpSpPr/>
          <p:nvPr/>
        </p:nvGrpSpPr>
        <p:grpSpPr>
          <a:xfrm>
            <a:off x="1590489" y="2867132"/>
            <a:ext cx="15166051" cy="2962168"/>
            <a:chOff x="0" y="0"/>
            <a:chExt cx="3627328" cy="708474"/>
          </a:xfrm>
        </p:grpSpPr>
        <p:sp>
          <p:nvSpPr>
            <p:cNvPr id="5" name="Freeform 5"/>
            <p:cNvSpPr/>
            <p:nvPr/>
          </p:nvSpPr>
          <p:spPr>
            <a:xfrm>
              <a:off x="0" y="0"/>
              <a:ext cx="3627328" cy="708474"/>
            </a:xfrm>
            <a:custGeom>
              <a:avLst/>
              <a:gdLst/>
              <a:ahLst/>
              <a:cxnLst/>
              <a:rect l="l" t="t" r="r" b="b"/>
              <a:pathLst>
                <a:path w="3627328" h="708474">
                  <a:moveTo>
                    <a:pt x="12251" y="0"/>
                  </a:moveTo>
                  <a:lnTo>
                    <a:pt x="3615076" y="0"/>
                  </a:lnTo>
                  <a:cubicBezTo>
                    <a:pt x="3618326" y="0"/>
                    <a:pt x="3621442" y="1291"/>
                    <a:pt x="3623739" y="3588"/>
                  </a:cubicBezTo>
                  <a:cubicBezTo>
                    <a:pt x="3626037" y="5886"/>
                    <a:pt x="3627328" y="9002"/>
                    <a:pt x="3627328" y="12251"/>
                  </a:cubicBezTo>
                  <a:lnTo>
                    <a:pt x="3627328" y="696223"/>
                  </a:lnTo>
                  <a:cubicBezTo>
                    <a:pt x="3627328" y="702989"/>
                    <a:pt x="3621842" y="708474"/>
                    <a:pt x="3615076" y="708474"/>
                  </a:cubicBezTo>
                  <a:lnTo>
                    <a:pt x="12251" y="708474"/>
                  </a:lnTo>
                  <a:cubicBezTo>
                    <a:pt x="5485" y="708474"/>
                    <a:pt x="0" y="702989"/>
                    <a:pt x="0" y="696223"/>
                  </a:cubicBezTo>
                  <a:lnTo>
                    <a:pt x="0" y="12251"/>
                  </a:lnTo>
                  <a:cubicBezTo>
                    <a:pt x="0" y="5485"/>
                    <a:pt x="5485" y="0"/>
                    <a:pt x="12251" y="0"/>
                  </a:cubicBezTo>
                  <a:close/>
                </a:path>
              </a:pathLst>
            </a:custGeom>
            <a:solidFill>
              <a:srgbClr val="BBD6E1"/>
            </a:solidFill>
            <a:ln cap="rnd">
              <a:noFill/>
              <a:prstDash val="solid"/>
              <a:round/>
            </a:ln>
          </p:spPr>
        </p:sp>
        <p:sp>
          <p:nvSpPr>
            <p:cNvPr id="6" name="TextBox 6"/>
            <p:cNvSpPr txBox="1"/>
            <p:nvPr/>
          </p:nvSpPr>
          <p:spPr>
            <a:xfrm>
              <a:off x="0" y="0"/>
              <a:ext cx="3627328" cy="708474"/>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7" name="TextBox 7"/>
          <p:cNvSpPr txBox="1"/>
          <p:nvPr/>
        </p:nvSpPr>
        <p:spPr>
          <a:xfrm>
            <a:off x="2085690" y="4094214"/>
            <a:ext cx="11115358" cy="1316672"/>
          </a:xfrm>
          <a:prstGeom prst="rect">
            <a:avLst/>
          </a:prstGeom>
        </p:spPr>
        <p:txBody>
          <a:bodyPr lIns="0" tIns="0" rIns="0" bIns="0" rtlCol="0" anchor="t">
            <a:spAutoFit/>
          </a:bodyPr>
          <a:lstStyle/>
          <a:p>
            <a:pPr algn="l">
              <a:lnSpc>
                <a:spcPts val="3552"/>
              </a:lnSpc>
              <a:spcBef>
                <a:spcPct val="0"/>
              </a:spcBef>
            </a:pPr>
            <a:r>
              <a:rPr lang="en-US" sz="2537">
                <a:solidFill>
                  <a:srgbClr val="185079"/>
                </a:solidFill>
                <a:latin typeface="Open Sauce"/>
                <a:ea typeface="Open Sauce"/>
                <a:cs typeface="Open Sauce"/>
                <a:sym typeface="Open Sauce"/>
              </a:rPr>
              <a:t> Because the 3 target classes are perfectly balanced in the underlying data, any viable machine learning algorithm must comfortably outperform a random distribution baseline of exactly 1/3</a:t>
            </a:r>
          </a:p>
        </p:txBody>
      </p:sp>
      <p:sp>
        <p:nvSpPr>
          <p:cNvPr id="8" name="TextBox 8"/>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01 The Random Guessing Floor (33.3%):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grpSp>
        <p:nvGrpSpPr>
          <p:cNvPr id="4" name="Group 4"/>
          <p:cNvGrpSpPr/>
          <p:nvPr/>
        </p:nvGrpSpPr>
        <p:grpSpPr>
          <a:xfrm>
            <a:off x="1590489" y="2867132"/>
            <a:ext cx="15166051" cy="6550757"/>
            <a:chOff x="0" y="0"/>
            <a:chExt cx="3627328" cy="1566772"/>
          </a:xfrm>
        </p:grpSpPr>
        <p:sp>
          <p:nvSpPr>
            <p:cNvPr id="5" name="Freeform 5"/>
            <p:cNvSpPr/>
            <p:nvPr/>
          </p:nvSpPr>
          <p:spPr>
            <a:xfrm>
              <a:off x="0" y="0"/>
              <a:ext cx="3627328" cy="1566772"/>
            </a:xfrm>
            <a:custGeom>
              <a:avLst/>
              <a:gdLst/>
              <a:ahLst/>
              <a:cxnLst/>
              <a:rect l="l" t="t" r="r" b="b"/>
              <a:pathLst>
                <a:path w="3627328" h="1566772">
                  <a:moveTo>
                    <a:pt x="12251" y="0"/>
                  </a:moveTo>
                  <a:lnTo>
                    <a:pt x="3615076" y="0"/>
                  </a:lnTo>
                  <a:cubicBezTo>
                    <a:pt x="3618326" y="0"/>
                    <a:pt x="3621442" y="1291"/>
                    <a:pt x="3623739" y="3588"/>
                  </a:cubicBezTo>
                  <a:cubicBezTo>
                    <a:pt x="3626037" y="5886"/>
                    <a:pt x="3627328" y="9002"/>
                    <a:pt x="3627328" y="12251"/>
                  </a:cubicBezTo>
                  <a:lnTo>
                    <a:pt x="3627328" y="1554520"/>
                  </a:lnTo>
                  <a:cubicBezTo>
                    <a:pt x="3627328" y="1561287"/>
                    <a:pt x="3621842" y="1566772"/>
                    <a:pt x="3615076" y="1566772"/>
                  </a:cubicBezTo>
                  <a:lnTo>
                    <a:pt x="12251" y="1566772"/>
                  </a:lnTo>
                  <a:cubicBezTo>
                    <a:pt x="5485" y="1566772"/>
                    <a:pt x="0" y="1561287"/>
                    <a:pt x="0" y="1554520"/>
                  </a:cubicBezTo>
                  <a:lnTo>
                    <a:pt x="0" y="12251"/>
                  </a:lnTo>
                  <a:cubicBezTo>
                    <a:pt x="0" y="5485"/>
                    <a:pt x="5485" y="0"/>
                    <a:pt x="12251" y="0"/>
                  </a:cubicBezTo>
                  <a:close/>
                </a:path>
              </a:pathLst>
            </a:custGeom>
            <a:solidFill>
              <a:srgbClr val="BBD6E1"/>
            </a:solidFill>
            <a:ln cap="rnd">
              <a:noFill/>
              <a:prstDash val="solid"/>
              <a:round/>
            </a:ln>
          </p:spPr>
        </p:sp>
        <p:sp>
          <p:nvSpPr>
            <p:cNvPr id="6" name="TextBox 6"/>
            <p:cNvSpPr txBox="1"/>
            <p:nvPr/>
          </p:nvSpPr>
          <p:spPr>
            <a:xfrm>
              <a:off x="0" y="0"/>
              <a:ext cx="3627328" cy="1566772"/>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7" name="TextBox 7"/>
          <p:cNvSpPr txBox="1"/>
          <p:nvPr/>
        </p:nvSpPr>
        <p:spPr>
          <a:xfrm>
            <a:off x="2085690" y="4094214"/>
            <a:ext cx="13208701" cy="5345747"/>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Unlike linear regression, which predicts continuous values it predicts the probability that an input belongs to a specific class.</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It is used for binary classification where the output can be one of two possible categories such as Yes/No, True/False or 0/1.</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It uses sigmoid function to convert inputs into a probability value between 0 and 1.</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Multinomial Logistic Regression: This is used when the dependent variable has three or more possible categories that are not ordered. For example, classifying animals into categories like "cat," "dog" or "sheep." It extends the binary logistic regression to handle multiple classes.</a:t>
            </a:r>
          </a:p>
          <a:p>
            <a:pPr algn="l">
              <a:lnSpc>
                <a:spcPts val="3552"/>
              </a:lnSpc>
            </a:pPr>
            <a:endParaRPr lang="en-US" sz="2537">
              <a:solidFill>
                <a:srgbClr val="185079"/>
              </a:solidFill>
              <a:latin typeface="Open Sauce"/>
              <a:ea typeface="Open Sauce"/>
              <a:cs typeface="Open Sauce"/>
              <a:sym typeface="Open Sauce"/>
            </a:endParaRPr>
          </a:p>
          <a:p>
            <a:pPr algn="l">
              <a:lnSpc>
                <a:spcPts val="3552"/>
              </a:lnSpc>
              <a:spcBef>
                <a:spcPct val="0"/>
              </a:spcBef>
            </a:pPr>
            <a:endParaRPr lang="en-US" sz="2537">
              <a:solidFill>
                <a:srgbClr val="185079"/>
              </a:solidFill>
              <a:latin typeface="Open Sauce"/>
              <a:ea typeface="Open Sauce"/>
              <a:cs typeface="Open Sauce"/>
              <a:sym typeface="Open Sauce"/>
            </a:endParaRPr>
          </a:p>
        </p:txBody>
      </p:sp>
      <p:sp>
        <p:nvSpPr>
          <p:cNvPr id="8" name="TextBox 8"/>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02  Logistic Regression: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590489" y="2867132"/>
            <a:ext cx="7553511" cy="6851244"/>
            <a:chOff x="0" y="0"/>
            <a:chExt cx="1806605" cy="1638641"/>
          </a:xfrm>
        </p:grpSpPr>
        <p:sp>
          <p:nvSpPr>
            <p:cNvPr id="4" name="Freeform 4"/>
            <p:cNvSpPr/>
            <p:nvPr/>
          </p:nvSpPr>
          <p:spPr>
            <a:xfrm>
              <a:off x="0" y="0"/>
              <a:ext cx="1806605" cy="1638641"/>
            </a:xfrm>
            <a:custGeom>
              <a:avLst/>
              <a:gdLst/>
              <a:ahLst/>
              <a:cxnLst/>
              <a:rect l="l" t="t" r="r" b="b"/>
              <a:pathLst>
                <a:path w="1806605" h="1638641">
                  <a:moveTo>
                    <a:pt x="24599" y="0"/>
                  </a:moveTo>
                  <a:lnTo>
                    <a:pt x="1782006" y="0"/>
                  </a:lnTo>
                  <a:cubicBezTo>
                    <a:pt x="1795592" y="0"/>
                    <a:pt x="1806605" y="11013"/>
                    <a:pt x="1806605" y="24599"/>
                  </a:cubicBezTo>
                  <a:lnTo>
                    <a:pt x="1806605" y="1614042"/>
                  </a:lnTo>
                  <a:cubicBezTo>
                    <a:pt x="1806605" y="1620566"/>
                    <a:pt x="1804013" y="1626823"/>
                    <a:pt x="1799400" y="1631436"/>
                  </a:cubicBezTo>
                  <a:cubicBezTo>
                    <a:pt x="1794787" y="1636049"/>
                    <a:pt x="1788530" y="1638641"/>
                    <a:pt x="1782006" y="1638641"/>
                  </a:cubicBezTo>
                  <a:lnTo>
                    <a:pt x="24599" y="1638641"/>
                  </a:lnTo>
                  <a:cubicBezTo>
                    <a:pt x="18075" y="1638641"/>
                    <a:pt x="11818" y="1636049"/>
                    <a:pt x="7205" y="1631436"/>
                  </a:cubicBezTo>
                  <a:cubicBezTo>
                    <a:pt x="2592" y="1626823"/>
                    <a:pt x="0" y="1620566"/>
                    <a:pt x="0" y="1614042"/>
                  </a:cubicBezTo>
                  <a:lnTo>
                    <a:pt x="0" y="24599"/>
                  </a:lnTo>
                  <a:cubicBezTo>
                    <a:pt x="0" y="18075"/>
                    <a:pt x="2592" y="11818"/>
                    <a:pt x="7205" y="7205"/>
                  </a:cubicBezTo>
                  <a:cubicBezTo>
                    <a:pt x="11818" y="2592"/>
                    <a:pt x="18075" y="0"/>
                    <a:pt x="24599" y="0"/>
                  </a:cubicBezTo>
                  <a:close/>
                </a:path>
              </a:pathLst>
            </a:custGeom>
            <a:solidFill>
              <a:srgbClr val="BBD6E1"/>
            </a:solidFill>
            <a:ln cap="rnd">
              <a:noFill/>
              <a:prstDash val="solid"/>
              <a:round/>
            </a:ln>
          </p:spPr>
        </p:sp>
        <p:sp>
          <p:nvSpPr>
            <p:cNvPr id="5" name="TextBox 5"/>
            <p:cNvSpPr txBox="1"/>
            <p:nvPr/>
          </p:nvSpPr>
          <p:spPr>
            <a:xfrm>
              <a:off x="0" y="0"/>
              <a:ext cx="1806605" cy="1638641"/>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Freeform 6"/>
          <p:cNvSpPr/>
          <p:nvPr/>
        </p:nvSpPr>
        <p:spPr>
          <a:xfrm>
            <a:off x="9566367" y="3828740"/>
            <a:ext cx="8353853" cy="4467952"/>
          </a:xfrm>
          <a:custGeom>
            <a:avLst/>
            <a:gdLst/>
            <a:ahLst/>
            <a:cxnLst/>
            <a:rect l="l" t="t" r="r" b="b"/>
            <a:pathLst>
              <a:path w="8353853" h="4467952">
                <a:moveTo>
                  <a:pt x="0" y="0"/>
                </a:moveTo>
                <a:lnTo>
                  <a:pt x="8353853" y="0"/>
                </a:lnTo>
                <a:lnTo>
                  <a:pt x="8353853" y="4467952"/>
                </a:lnTo>
                <a:lnTo>
                  <a:pt x="0" y="4467952"/>
                </a:lnTo>
                <a:lnTo>
                  <a:pt x="0" y="0"/>
                </a:lnTo>
                <a:close/>
              </a:path>
            </a:pathLst>
          </a:custGeom>
          <a:blipFill>
            <a:blip r:embed="rId3"/>
            <a:stretch>
              <a:fillRect l="-6967"/>
            </a:stretch>
          </a:blipFill>
        </p:spPr>
      </p:sp>
      <p:sp>
        <p:nvSpPr>
          <p:cNvPr id="7" name="TextBox 7"/>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sp>
        <p:nvSpPr>
          <p:cNvPr id="8" name="TextBox 8"/>
          <p:cNvSpPr txBox="1"/>
          <p:nvPr/>
        </p:nvSpPr>
        <p:spPr>
          <a:xfrm>
            <a:off x="2085690" y="4094214"/>
            <a:ext cx="6836656" cy="5793422"/>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 It works by identifying the K closest data points to a given input and making predictions based on the majority class or average value of those neighbors.</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Classifies data based on similarity with nearby data points</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Uses distance metrics like Euclidean distance to find nearest neighbors</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Since KNN makes no assumptions about the underlying data distribution, it makes it a non-parametric and instance-based learning method.</a:t>
            </a:r>
          </a:p>
          <a:p>
            <a:pPr algn="l">
              <a:lnSpc>
                <a:spcPts val="3552"/>
              </a:lnSpc>
              <a:spcBef>
                <a:spcPct val="0"/>
              </a:spcBef>
            </a:pPr>
            <a:endParaRPr lang="en-US" sz="2537">
              <a:solidFill>
                <a:srgbClr val="185079"/>
              </a:solidFill>
              <a:latin typeface="Open Sauce"/>
              <a:ea typeface="Open Sauce"/>
              <a:cs typeface="Open Sauce"/>
              <a:sym typeface="Open Sauce"/>
            </a:endParaRPr>
          </a:p>
        </p:txBody>
      </p:sp>
      <p:sp>
        <p:nvSpPr>
          <p:cNvPr id="9" name="TextBox 9"/>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03 K=Nearest Neighbors: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590489" y="2867132"/>
            <a:ext cx="9691153" cy="6572829"/>
            <a:chOff x="0" y="0"/>
            <a:chExt cx="2317874" cy="1572051"/>
          </a:xfrm>
        </p:grpSpPr>
        <p:sp>
          <p:nvSpPr>
            <p:cNvPr id="4" name="Freeform 4"/>
            <p:cNvSpPr/>
            <p:nvPr/>
          </p:nvSpPr>
          <p:spPr>
            <a:xfrm>
              <a:off x="0" y="0"/>
              <a:ext cx="2317874" cy="1572051"/>
            </a:xfrm>
            <a:custGeom>
              <a:avLst/>
              <a:gdLst/>
              <a:ahLst/>
              <a:cxnLst/>
              <a:rect l="l" t="t" r="r" b="b"/>
              <a:pathLst>
                <a:path w="2317874" h="1572051">
                  <a:moveTo>
                    <a:pt x="19173" y="0"/>
                  </a:moveTo>
                  <a:lnTo>
                    <a:pt x="2298701" y="0"/>
                  </a:lnTo>
                  <a:cubicBezTo>
                    <a:pt x="2303786" y="0"/>
                    <a:pt x="2308663" y="2020"/>
                    <a:pt x="2312258" y="5616"/>
                  </a:cubicBezTo>
                  <a:cubicBezTo>
                    <a:pt x="2315854" y="9211"/>
                    <a:pt x="2317874" y="14088"/>
                    <a:pt x="2317874" y="19173"/>
                  </a:cubicBezTo>
                  <a:lnTo>
                    <a:pt x="2317874" y="1552878"/>
                  </a:lnTo>
                  <a:cubicBezTo>
                    <a:pt x="2317874" y="1557963"/>
                    <a:pt x="2315854" y="1562840"/>
                    <a:pt x="2312258" y="1566435"/>
                  </a:cubicBezTo>
                  <a:cubicBezTo>
                    <a:pt x="2308663" y="1570031"/>
                    <a:pt x="2303786" y="1572051"/>
                    <a:pt x="2298701" y="1572051"/>
                  </a:cubicBezTo>
                  <a:lnTo>
                    <a:pt x="19173" y="1572051"/>
                  </a:lnTo>
                  <a:cubicBezTo>
                    <a:pt x="14088" y="1572051"/>
                    <a:pt x="9211" y="1570031"/>
                    <a:pt x="5616" y="1566435"/>
                  </a:cubicBezTo>
                  <a:cubicBezTo>
                    <a:pt x="2020" y="1562840"/>
                    <a:pt x="0" y="1557963"/>
                    <a:pt x="0" y="1552878"/>
                  </a:cubicBezTo>
                  <a:lnTo>
                    <a:pt x="0" y="19173"/>
                  </a:lnTo>
                  <a:cubicBezTo>
                    <a:pt x="0" y="14088"/>
                    <a:pt x="2020" y="9211"/>
                    <a:pt x="5616" y="5616"/>
                  </a:cubicBezTo>
                  <a:cubicBezTo>
                    <a:pt x="9211" y="2020"/>
                    <a:pt x="14088" y="0"/>
                    <a:pt x="19173" y="0"/>
                  </a:cubicBezTo>
                  <a:close/>
                </a:path>
              </a:pathLst>
            </a:custGeom>
            <a:solidFill>
              <a:srgbClr val="BBD6E1"/>
            </a:solidFill>
            <a:ln cap="rnd">
              <a:noFill/>
              <a:prstDash val="solid"/>
              <a:round/>
            </a:ln>
          </p:spPr>
        </p:sp>
        <p:sp>
          <p:nvSpPr>
            <p:cNvPr id="5" name="TextBox 5"/>
            <p:cNvSpPr txBox="1"/>
            <p:nvPr/>
          </p:nvSpPr>
          <p:spPr>
            <a:xfrm>
              <a:off x="0" y="0"/>
              <a:ext cx="2317874" cy="1572051"/>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Freeform 6"/>
          <p:cNvSpPr/>
          <p:nvPr/>
        </p:nvSpPr>
        <p:spPr>
          <a:xfrm>
            <a:off x="11866744" y="3323508"/>
            <a:ext cx="5136248" cy="4500441"/>
          </a:xfrm>
          <a:custGeom>
            <a:avLst/>
            <a:gdLst/>
            <a:ahLst/>
            <a:cxnLst/>
            <a:rect l="l" t="t" r="r" b="b"/>
            <a:pathLst>
              <a:path w="5136248" h="4500441">
                <a:moveTo>
                  <a:pt x="0" y="0"/>
                </a:moveTo>
                <a:lnTo>
                  <a:pt x="5136248" y="0"/>
                </a:lnTo>
                <a:lnTo>
                  <a:pt x="5136248" y="4500441"/>
                </a:lnTo>
                <a:lnTo>
                  <a:pt x="0" y="4500441"/>
                </a:lnTo>
                <a:lnTo>
                  <a:pt x="0" y="0"/>
                </a:lnTo>
                <a:close/>
              </a:path>
            </a:pathLst>
          </a:custGeom>
          <a:blipFill>
            <a:blip r:embed="rId3"/>
            <a:stretch>
              <a:fillRect l="-120029" t="-25557"/>
            </a:stretch>
          </a:blipFill>
        </p:spPr>
      </p:sp>
      <p:sp>
        <p:nvSpPr>
          <p:cNvPr id="7" name="TextBox 7"/>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sp>
        <p:nvSpPr>
          <p:cNvPr id="8" name="TextBox 8"/>
          <p:cNvSpPr txBox="1"/>
          <p:nvPr/>
        </p:nvSpPr>
        <p:spPr>
          <a:xfrm>
            <a:off x="2085690" y="4784327"/>
            <a:ext cx="8482835" cy="3555047"/>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it tries to find the best boundary known as hyperplane that separates different classes in the data. It is useful when you want to do binary classification like spam vs. not spam or cat vs. dog.</a:t>
            </a:r>
          </a:p>
          <a:p>
            <a:pPr algn="l">
              <a:lnSpc>
                <a:spcPts val="3552"/>
              </a:lnSpc>
            </a:pPr>
            <a:r>
              <a:rPr lang="en-US" sz="2537">
                <a:solidFill>
                  <a:srgbClr val="185079"/>
                </a:solidFill>
                <a:latin typeface="Open Sauce"/>
                <a:ea typeface="Open Sauce"/>
                <a:cs typeface="Open Sauce"/>
                <a:sym typeface="Open Sauce"/>
              </a:rPr>
              <a:t>The main goal of SVM is to maximize the margin between the two classes. The larger the margin the better the model performs on new and unseen data.</a:t>
            </a:r>
          </a:p>
          <a:p>
            <a:pPr algn="l">
              <a:lnSpc>
                <a:spcPts val="3552"/>
              </a:lnSpc>
              <a:spcBef>
                <a:spcPct val="0"/>
              </a:spcBef>
            </a:pPr>
            <a:endParaRPr lang="en-US" sz="2537">
              <a:solidFill>
                <a:srgbClr val="185079"/>
              </a:solidFill>
              <a:latin typeface="Open Sauce"/>
              <a:ea typeface="Open Sauce"/>
              <a:cs typeface="Open Sauce"/>
              <a:sym typeface="Open Sauce"/>
            </a:endParaRPr>
          </a:p>
        </p:txBody>
      </p:sp>
      <p:sp>
        <p:nvSpPr>
          <p:cNvPr id="9" name="TextBox 9"/>
          <p:cNvSpPr txBox="1"/>
          <p:nvPr/>
        </p:nvSpPr>
        <p:spPr>
          <a:xfrm>
            <a:off x="2085690" y="3247308"/>
            <a:ext cx="8482835" cy="138430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04 Support Vector Machine (svm):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590489" y="2867132"/>
            <a:ext cx="7745926" cy="6391168"/>
            <a:chOff x="0" y="0"/>
            <a:chExt cx="1852625" cy="1528602"/>
          </a:xfrm>
        </p:grpSpPr>
        <p:sp>
          <p:nvSpPr>
            <p:cNvPr id="4" name="Freeform 4"/>
            <p:cNvSpPr/>
            <p:nvPr/>
          </p:nvSpPr>
          <p:spPr>
            <a:xfrm>
              <a:off x="0" y="0"/>
              <a:ext cx="1852625" cy="1528602"/>
            </a:xfrm>
            <a:custGeom>
              <a:avLst/>
              <a:gdLst/>
              <a:ahLst/>
              <a:cxnLst/>
              <a:rect l="l" t="t" r="r" b="b"/>
              <a:pathLst>
                <a:path w="1852625" h="1528602">
                  <a:moveTo>
                    <a:pt x="23988" y="0"/>
                  </a:moveTo>
                  <a:lnTo>
                    <a:pt x="1828638" y="0"/>
                  </a:lnTo>
                  <a:cubicBezTo>
                    <a:pt x="1841886" y="0"/>
                    <a:pt x="1852625" y="10740"/>
                    <a:pt x="1852625" y="23988"/>
                  </a:cubicBezTo>
                  <a:lnTo>
                    <a:pt x="1852625" y="1504615"/>
                  </a:lnTo>
                  <a:cubicBezTo>
                    <a:pt x="1852625" y="1517863"/>
                    <a:pt x="1841886" y="1528602"/>
                    <a:pt x="1828638" y="1528602"/>
                  </a:cubicBezTo>
                  <a:lnTo>
                    <a:pt x="23988" y="1528602"/>
                  </a:lnTo>
                  <a:cubicBezTo>
                    <a:pt x="10740" y="1528602"/>
                    <a:pt x="0" y="1517863"/>
                    <a:pt x="0" y="1504615"/>
                  </a:cubicBezTo>
                  <a:lnTo>
                    <a:pt x="0" y="23988"/>
                  </a:lnTo>
                  <a:cubicBezTo>
                    <a:pt x="0" y="10740"/>
                    <a:pt x="10740" y="0"/>
                    <a:pt x="23988" y="0"/>
                  </a:cubicBezTo>
                  <a:close/>
                </a:path>
              </a:pathLst>
            </a:custGeom>
            <a:solidFill>
              <a:srgbClr val="BBD6E1"/>
            </a:solidFill>
            <a:ln cap="rnd">
              <a:noFill/>
              <a:prstDash val="solid"/>
              <a:round/>
            </a:ln>
          </p:spPr>
        </p:sp>
        <p:sp>
          <p:nvSpPr>
            <p:cNvPr id="5" name="TextBox 5"/>
            <p:cNvSpPr txBox="1"/>
            <p:nvPr/>
          </p:nvSpPr>
          <p:spPr>
            <a:xfrm>
              <a:off x="0" y="0"/>
              <a:ext cx="1852625" cy="1528602"/>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Freeform 6"/>
          <p:cNvSpPr/>
          <p:nvPr/>
        </p:nvSpPr>
        <p:spPr>
          <a:xfrm>
            <a:off x="9336414" y="3775367"/>
            <a:ext cx="8405965" cy="4202982"/>
          </a:xfrm>
          <a:custGeom>
            <a:avLst/>
            <a:gdLst/>
            <a:ahLst/>
            <a:cxnLst/>
            <a:rect l="l" t="t" r="r" b="b"/>
            <a:pathLst>
              <a:path w="8405965" h="4202982">
                <a:moveTo>
                  <a:pt x="0" y="0"/>
                </a:moveTo>
                <a:lnTo>
                  <a:pt x="8405965" y="0"/>
                </a:lnTo>
                <a:lnTo>
                  <a:pt x="8405965" y="4202983"/>
                </a:lnTo>
                <a:lnTo>
                  <a:pt x="0" y="4202983"/>
                </a:lnTo>
                <a:lnTo>
                  <a:pt x="0" y="0"/>
                </a:lnTo>
                <a:close/>
              </a:path>
            </a:pathLst>
          </a:custGeom>
          <a:blipFill>
            <a:blip r:embed="rId3"/>
            <a:stretch>
              <a:fillRect/>
            </a:stretch>
          </a:blipFill>
        </p:spPr>
      </p:sp>
      <p:sp>
        <p:nvSpPr>
          <p:cNvPr id="7" name="TextBox 7"/>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sp>
        <p:nvSpPr>
          <p:cNvPr id="8" name="TextBox 8"/>
          <p:cNvSpPr txBox="1"/>
          <p:nvPr/>
        </p:nvSpPr>
        <p:spPr>
          <a:xfrm>
            <a:off x="2085690" y="4094214"/>
            <a:ext cx="6767645" cy="4898072"/>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It is used for both classification and regression tasks. It has a hierarchical tree structure which consists of a root node, branches, internal nodes and leaf nodes. It works like a flowchart that helps in making step-by-step decisions, where:</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Internal nodes represent attribute tests</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Branches represent attribute values</a:t>
            </a:r>
          </a:p>
          <a:p>
            <a:pPr marL="547854" lvl="1" indent="-273927" algn="l">
              <a:lnSpc>
                <a:spcPts val="3552"/>
              </a:lnSpc>
              <a:buFont typeface="Arial"/>
              <a:buChar char="•"/>
            </a:pPr>
            <a:r>
              <a:rPr lang="en-US" sz="2537">
                <a:solidFill>
                  <a:srgbClr val="185079"/>
                </a:solidFill>
                <a:latin typeface="Open Sauce"/>
                <a:ea typeface="Open Sauce"/>
                <a:cs typeface="Open Sauce"/>
                <a:sym typeface="Open Sauce"/>
              </a:rPr>
              <a:t>Leaf nodes represent final decisions or predictions.</a:t>
            </a:r>
          </a:p>
          <a:p>
            <a:pPr algn="l">
              <a:lnSpc>
                <a:spcPts val="3552"/>
              </a:lnSpc>
            </a:pPr>
            <a:endParaRPr lang="en-US" sz="2537">
              <a:solidFill>
                <a:srgbClr val="185079"/>
              </a:solidFill>
              <a:latin typeface="Open Sauce"/>
              <a:ea typeface="Open Sauce"/>
              <a:cs typeface="Open Sauce"/>
              <a:sym typeface="Open Sauce"/>
            </a:endParaRPr>
          </a:p>
        </p:txBody>
      </p:sp>
      <p:sp>
        <p:nvSpPr>
          <p:cNvPr id="9" name="TextBox 9"/>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05 Decision 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590489" y="2867132"/>
            <a:ext cx="6737800" cy="6391168"/>
            <a:chOff x="0" y="0"/>
            <a:chExt cx="1611508" cy="1528602"/>
          </a:xfrm>
        </p:grpSpPr>
        <p:sp>
          <p:nvSpPr>
            <p:cNvPr id="4" name="Freeform 4"/>
            <p:cNvSpPr/>
            <p:nvPr/>
          </p:nvSpPr>
          <p:spPr>
            <a:xfrm>
              <a:off x="0" y="0"/>
              <a:ext cx="1611508" cy="1528602"/>
            </a:xfrm>
            <a:custGeom>
              <a:avLst/>
              <a:gdLst/>
              <a:ahLst/>
              <a:cxnLst/>
              <a:rect l="l" t="t" r="r" b="b"/>
              <a:pathLst>
                <a:path w="1611508" h="1528602">
                  <a:moveTo>
                    <a:pt x="27577" y="0"/>
                  </a:moveTo>
                  <a:lnTo>
                    <a:pt x="1583931" y="0"/>
                  </a:lnTo>
                  <a:cubicBezTo>
                    <a:pt x="1599161" y="0"/>
                    <a:pt x="1611508" y="12346"/>
                    <a:pt x="1611508" y="27577"/>
                  </a:cubicBezTo>
                  <a:lnTo>
                    <a:pt x="1611508" y="1501026"/>
                  </a:lnTo>
                  <a:cubicBezTo>
                    <a:pt x="1611508" y="1516256"/>
                    <a:pt x="1599161" y="1528602"/>
                    <a:pt x="1583931" y="1528602"/>
                  </a:cubicBezTo>
                  <a:lnTo>
                    <a:pt x="27577" y="1528602"/>
                  </a:lnTo>
                  <a:cubicBezTo>
                    <a:pt x="12346" y="1528602"/>
                    <a:pt x="0" y="1516256"/>
                    <a:pt x="0" y="1501026"/>
                  </a:cubicBezTo>
                  <a:lnTo>
                    <a:pt x="0" y="27577"/>
                  </a:lnTo>
                  <a:cubicBezTo>
                    <a:pt x="0" y="12346"/>
                    <a:pt x="12346" y="0"/>
                    <a:pt x="27577" y="0"/>
                  </a:cubicBezTo>
                  <a:close/>
                </a:path>
              </a:pathLst>
            </a:custGeom>
            <a:solidFill>
              <a:srgbClr val="BBD6E1"/>
            </a:solidFill>
            <a:ln cap="rnd">
              <a:noFill/>
              <a:prstDash val="solid"/>
              <a:round/>
            </a:ln>
          </p:spPr>
        </p:sp>
        <p:sp>
          <p:nvSpPr>
            <p:cNvPr id="5" name="TextBox 5"/>
            <p:cNvSpPr txBox="1"/>
            <p:nvPr/>
          </p:nvSpPr>
          <p:spPr>
            <a:xfrm>
              <a:off x="0" y="0"/>
              <a:ext cx="1611508" cy="1528602"/>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Freeform 6"/>
          <p:cNvSpPr/>
          <p:nvPr/>
        </p:nvSpPr>
        <p:spPr>
          <a:xfrm>
            <a:off x="8576387" y="3130781"/>
            <a:ext cx="9249322" cy="4624661"/>
          </a:xfrm>
          <a:custGeom>
            <a:avLst/>
            <a:gdLst/>
            <a:ahLst/>
            <a:cxnLst/>
            <a:rect l="l" t="t" r="r" b="b"/>
            <a:pathLst>
              <a:path w="9249322" h="4624661">
                <a:moveTo>
                  <a:pt x="0" y="0"/>
                </a:moveTo>
                <a:lnTo>
                  <a:pt x="9249322" y="0"/>
                </a:lnTo>
                <a:lnTo>
                  <a:pt x="9249322" y="4624662"/>
                </a:lnTo>
                <a:lnTo>
                  <a:pt x="0" y="4624662"/>
                </a:lnTo>
                <a:lnTo>
                  <a:pt x="0" y="0"/>
                </a:lnTo>
                <a:close/>
              </a:path>
            </a:pathLst>
          </a:custGeom>
          <a:blipFill>
            <a:blip r:embed="rId3"/>
            <a:stretch>
              <a:fillRect/>
            </a:stretch>
          </a:blipFill>
        </p:spPr>
      </p:sp>
      <p:sp>
        <p:nvSpPr>
          <p:cNvPr id="7" name="TextBox 7"/>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sp>
        <p:nvSpPr>
          <p:cNvPr id="8" name="TextBox 8"/>
          <p:cNvSpPr txBox="1"/>
          <p:nvPr/>
        </p:nvSpPr>
        <p:spPr>
          <a:xfrm>
            <a:off x="2085690" y="4094214"/>
            <a:ext cx="5778482" cy="4898072"/>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Random Forest is a machine learning algorithm that uses many decision trees to make better predictions. Each tree looks at different random parts of the data and their results are combined by voting for classification or averaging for regression which makes it as ensemble learning technique. This helps in improving accuracy and reducing errors.</a:t>
            </a:r>
          </a:p>
        </p:txBody>
      </p:sp>
      <p:sp>
        <p:nvSpPr>
          <p:cNvPr id="9" name="TextBox 9"/>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06 Random Forest: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590489" y="2867132"/>
            <a:ext cx="8496666" cy="6851244"/>
            <a:chOff x="0" y="0"/>
            <a:chExt cx="2032183" cy="1638641"/>
          </a:xfrm>
        </p:grpSpPr>
        <p:sp>
          <p:nvSpPr>
            <p:cNvPr id="4" name="Freeform 4"/>
            <p:cNvSpPr/>
            <p:nvPr/>
          </p:nvSpPr>
          <p:spPr>
            <a:xfrm>
              <a:off x="0" y="0"/>
              <a:ext cx="2032183" cy="1638641"/>
            </a:xfrm>
            <a:custGeom>
              <a:avLst/>
              <a:gdLst/>
              <a:ahLst/>
              <a:cxnLst/>
              <a:rect l="l" t="t" r="r" b="b"/>
              <a:pathLst>
                <a:path w="2032183" h="1638641">
                  <a:moveTo>
                    <a:pt x="21868" y="0"/>
                  </a:moveTo>
                  <a:lnTo>
                    <a:pt x="2010315" y="0"/>
                  </a:lnTo>
                  <a:cubicBezTo>
                    <a:pt x="2016115" y="0"/>
                    <a:pt x="2021677" y="2304"/>
                    <a:pt x="2025778" y="6405"/>
                  </a:cubicBezTo>
                  <a:cubicBezTo>
                    <a:pt x="2029879" y="10506"/>
                    <a:pt x="2032183" y="16068"/>
                    <a:pt x="2032183" y="21868"/>
                  </a:cubicBezTo>
                  <a:lnTo>
                    <a:pt x="2032183" y="1616773"/>
                  </a:lnTo>
                  <a:cubicBezTo>
                    <a:pt x="2032183" y="1628850"/>
                    <a:pt x="2022392" y="1638641"/>
                    <a:pt x="2010315" y="1638641"/>
                  </a:cubicBezTo>
                  <a:lnTo>
                    <a:pt x="21868" y="1638641"/>
                  </a:lnTo>
                  <a:cubicBezTo>
                    <a:pt x="9791" y="1638641"/>
                    <a:pt x="0" y="1628850"/>
                    <a:pt x="0" y="1616773"/>
                  </a:cubicBezTo>
                  <a:lnTo>
                    <a:pt x="0" y="21868"/>
                  </a:lnTo>
                  <a:cubicBezTo>
                    <a:pt x="0" y="9791"/>
                    <a:pt x="9791" y="0"/>
                    <a:pt x="21868" y="0"/>
                  </a:cubicBezTo>
                  <a:close/>
                </a:path>
              </a:pathLst>
            </a:custGeom>
            <a:solidFill>
              <a:srgbClr val="BBD6E1"/>
            </a:solidFill>
            <a:ln cap="rnd">
              <a:noFill/>
              <a:prstDash val="solid"/>
              <a:round/>
            </a:ln>
          </p:spPr>
        </p:sp>
        <p:sp>
          <p:nvSpPr>
            <p:cNvPr id="5" name="TextBox 5"/>
            <p:cNvSpPr txBox="1"/>
            <p:nvPr/>
          </p:nvSpPr>
          <p:spPr>
            <a:xfrm>
              <a:off x="0" y="0"/>
              <a:ext cx="2032183" cy="1638641"/>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Freeform 6"/>
          <p:cNvSpPr/>
          <p:nvPr/>
        </p:nvSpPr>
        <p:spPr>
          <a:xfrm>
            <a:off x="10530835" y="3625133"/>
            <a:ext cx="7274378" cy="3637189"/>
          </a:xfrm>
          <a:custGeom>
            <a:avLst/>
            <a:gdLst/>
            <a:ahLst/>
            <a:cxnLst/>
            <a:rect l="l" t="t" r="r" b="b"/>
            <a:pathLst>
              <a:path w="7274378" h="3637189">
                <a:moveTo>
                  <a:pt x="0" y="0"/>
                </a:moveTo>
                <a:lnTo>
                  <a:pt x="7274378" y="0"/>
                </a:lnTo>
                <a:lnTo>
                  <a:pt x="7274378" y="3637189"/>
                </a:lnTo>
                <a:lnTo>
                  <a:pt x="0" y="3637189"/>
                </a:lnTo>
                <a:lnTo>
                  <a:pt x="0" y="0"/>
                </a:lnTo>
                <a:close/>
              </a:path>
            </a:pathLst>
          </a:custGeom>
          <a:blipFill>
            <a:blip r:embed="rId3"/>
            <a:stretch>
              <a:fillRect/>
            </a:stretch>
          </a:blipFill>
        </p:spPr>
      </p:sp>
      <p:sp>
        <p:nvSpPr>
          <p:cNvPr id="7" name="TextBox 7"/>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sp>
        <p:nvSpPr>
          <p:cNvPr id="8" name="TextBox 8"/>
          <p:cNvSpPr txBox="1"/>
          <p:nvPr/>
        </p:nvSpPr>
        <p:spPr>
          <a:xfrm>
            <a:off x="2085690" y="4094214"/>
            <a:ext cx="7572777" cy="5345747"/>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Gradient Boosting is a boosting algorithm and here each new model is trained to minimize the loss function such as mean squared error or cross-entropy of the previous model using gradient descent. In each iteration the algorithm computes the gradient of the loss function with respect to predictions and then trains a new weak model to predict this gradient. Predictions of the new model are then added to the ensemble (all models prediction) and the process is repeated until a stopping criterion is met.</a:t>
            </a:r>
          </a:p>
        </p:txBody>
      </p:sp>
      <p:sp>
        <p:nvSpPr>
          <p:cNvPr id="9" name="TextBox 9"/>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06 Gradient boosting: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590489" y="2867132"/>
            <a:ext cx="8496666" cy="5402006"/>
            <a:chOff x="0" y="0"/>
            <a:chExt cx="2032183" cy="1292020"/>
          </a:xfrm>
        </p:grpSpPr>
        <p:sp>
          <p:nvSpPr>
            <p:cNvPr id="4" name="Freeform 4"/>
            <p:cNvSpPr/>
            <p:nvPr/>
          </p:nvSpPr>
          <p:spPr>
            <a:xfrm>
              <a:off x="0" y="0"/>
              <a:ext cx="2032183" cy="1292020"/>
            </a:xfrm>
            <a:custGeom>
              <a:avLst/>
              <a:gdLst/>
              <a:ahLst/>
              <a:cxnLst/>
              <a:rect l="l" t="t" r="r" b="b"/>
              <a:pathLst>
                <a:path w="2032183" h="1292020">
                  <a:moveTo>
                    <a:pt x="21868" y="0"/>
                  </a:moveTo>
                  <a:lnTo>
                    <a:pt x="2010315" y="0"/>
                  </a:lnTo>
                  <a:cubicBezTo>
                    <a:pt x="2016115" y="0"/>
                    <a:pt x="2021677" y="2304"/>
                    <a:pt x="2025778" y="6405"/>
                  </a:cubicBezTo>
                  <a:cubicBezTo>
                    <a:pt x="2029879" y="10506"/>
                    <a:pt x="2032183" y="16068"/>
                    <a:pt x="2032183" y="21868"/>
                  </a:cubicBezTo>
                  <a:lnTo>
                    <a:pt x="2032183" y="1270152"/>
                  </a:lnTo>
                  <a:cubicBezTo>
                    <a:pt x="2032183" y="1282230"/>
                    <a:pt x="2022392" y="1292020"/>
                    <a:pt x="2010315" y="1292020"/>
                  </a:cubicBezTo>
                  <a:lnTo>
                    <a:pt x="21868" y="1292020"/>
                  </a:lnTo>
                  <a:cubicBezTo>
                    <a:pt x="9791" y="1292020"/>
                    <a:pt x="0" y="1282230"/>
                    <a:pt x="0" y="1270152"/>
                  </a:cubicBezTo>
                  <a:lnTo>
                    <a:pt x="0" y="21868"/>
                  </a:lnTo>
                  <a:cubicBezTo>
                    <a:pt x="0" y="9791"/>
                    <a:pt x="9791" y="0"/>
                    <a:pt x="21868" y="0"/>
                  </a:cubicBezTo>
                  <a:close/>
                </a:path>
              </a:pathLst>
            </a:custGeom>
            <a:solidFill>
              <a:srgbClr val="BBD6E1"/>
            </a:solidFill>
            <a:ln cap="rnd">
              <a:noFill/>
              <a:prstDash val="solid"/>
              <a:round/>
            </a:ln>
          </p:spPr>
        </p:sp>
        <p:sp>
          <p:nvSpPr>
            <p:cNvPr id="5" name="TextBox 5"/>
            <p:cNvSpPr txBox="1"/>
            <p:nvPr/>
          </p:nvSpPr>
          <p:spPr>
            <a:xfrm>
              <a:off x="0" y="0"/>
              <a:ext cx="2032183" cy="1292020"/>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6" name="Freeform 6"/>
          <p:cNvSpPr/>
          <p:nvPr/>
        </p:nvSpPr>
        <p:spPr>
          <a:xfrm>
            <a:off x="11016996" y="5143500"/>
            <a:ext cx="6485965" cy="1552197"/>
          </a:xfrm>
          <a:custGeom>
            <a:avLst/>
            <a:gdLst/>
            <a:ahLst/>
            <a:cxnLst/>
            <a:rect l="l" t="t" r="r" b="b"/>
            <a:pathLst>
              <a:path w="6485965" h="1552197">
                <a:moveTo>
                  <a:pt x="0" y="0"/>
                </a:moveTo>
                <a:lnTo>
                  <a:pt x="6485965" y="0"/>
                </a:lnTo>
                <a:lnTo>
                  <a:pt x="6485965" y="1552197"/>
                </a:lnTo>
                <a:lnTo>
                  <a:pt x="0" y="1552197"/>
                </a:lnTo>
                <a:lnTo>
                  <a:pt x="0" y="0"/>
                </a:lnTo>
                <a:close/>
              </a:path>
            </a:pathLst>
          </a:custGeom>
          <a:blipFill>
            <a:blip r:embed="rId3"/>
            <a:stretch>
              <a:fillRect/>
            </a:stretch>
          </a:blipFill>
        </p:spPr>
      </p:sp>
      <p:sp>
        <p:nvSpPr>
          <p:cNvPr id="7" name="TextBox 7"/>
          <p:cNvSpPr txBox="1"/>
          <p:nvPr/>
        </p:nvSpPr>
        <p:spPr>
          <a:xfrm>
            <a:off x="1590489" y="1943407"/>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MOD</a:t>
            </a:r>
            <a:r>
              <a:rPr lang="en-US" sz="5999" b="1" u="none" strike="noStrike" spc="-353">
                <a:solidFill>
                  <a:srgbClr val="185079"/>
                </a:solidFill>
                <a:latin typeface="Open Sauce Semi-Bold"/>
                <a:ea typeface="Open Sauce Semi-Bold"/>
                <a:cs typeface="Open Sauce Semi-Bold"/>
                <a:sym typeface="Open Sauce Semi-Bold"/>
              </a:rPr>
              <a:t>EL SELECTION </a:t>
            </a:r>
          </a:p>
        </p:txBody>
      </p:sp>
      <p:sp>
        <p:nvSpPr>
          <p:cNvPr id="8" name="TextBox 8"/>
          <p:cNvSpPr txBox="1"/>
          <p:nvPr/>
        </p:nvSpPr>
        <p:spPr>
          <a:xfrm>
            <a:off x="2085690" y="4094214"/>
            <a:ext cx="7572777" cy="3555047"/>
          </a:xfrm>
          <a:prstGeom prst="rect">
            <a:avLst/>
          </a:prstGeom>
        </p:spPr>
        <p:txBody>
          <a:bodyPr lIns="0" tIns="0" rIns="0" bIns="0" rtlCol="0" anchor="t">
            <a:spAutoFit/>
          </a:bodyPr>
          <a:lstStyle/>
          <a:p>
            <a:pPr algn="l">
              <a:lnSpc>
                <a:spcPts val="3552"/>
              </a:lnSpc>
            </a:pPr>
            <a:r>
              <a:rPr lang="en-US" sz="2537">
                <a:solidFill>
                  <a:srgbClr val="185079"/>
                </a:solidFill>
                <a:latin typeface="Open Sauce"/>
                <a:ea typeface="Open Sauce"/>
                <a:cs typeface="Open Sauce"/>
                <a:sym typeface="Open Sauce"/>
              </a:rPr>
              <a:t>Naive Bayes is a machine learning classification algorithm that predicts the category of a data point using probability. It assumes that all features are independent of each other. Naive Bayes performs well in many real-world applications such as spam filtering, document categorization and sentiment analysis. It is used mostly in high-dimensional text classification</a:t>
            </a:r>
          </a:p>
        </p:txBody>
      </p:sp>
      <p:sp>
        <p:nvSpPr>
          <p:cNvPr id="9" name="TextBox 9"/>
          <p:cNvSpPr txBox="1"/>
          <p:nvPr/>
        </p:nvSpPr>
        <p:spPr>
          <a:xfrm>
            <a:off x="2085690" y="3247308"/>
            <a:ext cx="12744610" cy="679450"/>
          </a:xfrm>
          <a:prstGeom prst="rect">
            <a:avLst/>
          </a:prstGeom>
        </p:spPr>
        <p:txBody>
          <a:bodyPr lIns="0" tIns="0" rIns="0" bIns="0" rtlCol="0" anchor="t">
            <a:spAutoFit/>
          </a:bodyPr>
          <a:lstStyle/>
          <a:p>
            <a:pPr marL="0" lvl="0" indent="0" algn="l">
              <a:lnSpc>
                <a:spcPts val="5599"/>
              </a:lnSpc>
              <a:spcBef>
                <a:spcPct val="0"/>
              </a:spcBef>
            </a:pPr>
            <a:r>
              <a:rPr lang="en-US" sz="3999" b="1" spc="23">
                <a:solidFill>
                  <a:srgbClr val="185079"/>
                </a:solidFill>
                <a:latin typeface="Open Sauce Bold"/>
                <a:ea typeface="Open Sauce Bold"/>
                <a:cs typeface="Open Sauce Bold"/>
                <a:sym typeface="Open Sauce Bold"/>
              </a:rPr>
              <a:t>07 Naive Bayes: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TextBox 5"/>
          <p:cNvSpPr txBox="1"/>
          <p:nvPr/>
        </p:nvSpPr>
        <p:spPr>
          <a:xfrm>
            <a:off x="8825380" y="2143938"/>
            <a:ext cx="6737800" cy="166306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EVALUA</a:t>
            </a:r>
            <a:r>
              <a:rPr lang="en-US" sz="5999" b="1" u="none" strike="noStrike" spc="-353">
                <a:solidFill>
                  <a:srgbClr val="185079"/>
                </a:solidFill>
                <a:latin typeface="Open Sauce Semi-Bold"/>
                <a:ea typeface="Open Sauce Semi-Bold"/>
                <a:cs typeface="Open Sauce Semi-Bold"/>
                <a:sym typeface="Open Sauce Semi-Bold"/>
              </a:rPr>
              <a:t>TION AND METRICS </a:t>
            </a:r>
          </a:p>
        </p:txBody>
      </p:sp>
      <p:sp>
        <p:nvSpPr>
          <p:cNvPr id="6" name="TextBox 6"/>
          <p:cNvSpPr txBox="1"/>
          <p:nvPr/>
        </p:nvSpPr>
        <p:spPr>
          <a:xfrm>
            <a:off x="8825380" y="3683178"/>
            <a:ext cx="8433920" cy="5667375"/>
          </a:xfrm>
          <a:prstGeom prst="rect">
            <a:avLst/>
          </a:prstGeom>
        </p:spPr>
        <p:txBody>
          <a:bodyPr lIns="0" tIns="0" rIns="0" bIns="0" rtlCol="0" anchor="t">
            <a:spAutoFit/>
          </a:bodyPr>
          <a:lstStyle/>
          <a:p>
            <a:pPr marL="518158" lvl="1" indent="-259079" algn="l">
              <a:lnSpc>
                <a:spcPts val="4199"/>
              </a:lnSpc>
              <a:buFont typeface="Arial"/>
              <a:buChar char="•"/>
            </a:pPr>
            <a:r>
              <a:rPr lang="en-US" sz="2399">
                <a:solidFill>
                  <a:srgbClr val="185079"/>
                </a:solidFill>
                <a:latin typeface="Open Sauce"/>
                <a:ea typeface="Open Sauce"/>
                <a:cs typeface="Open Sauce"/>
                <a:sym typeface="Open Sauce"/>
              </a:rPr>
              <a:t>Using cross validation </a:t>
            </a:r>
            <a:r>
              <a:rPr lang="en-US" sz="2399" u="none" strike="noStrike">
                <a:solidFill>
                  <a:srgbClr val="185079"/>
                </a:solidFill>
                <a:latin typeface="Open Sauce"/>
                <a:ea typeface="Open Sauce"/>
                <a:cs typeface="Open Sauce"/>
                <a:sym typeface="Open Sauce"/>
              </a:rPr>
              <a:t>cross_val_score(model, X_train, Y_train, cv=5, scoring='accuracy') to extract  accuracy averages across all 7 models.</a:t>
            </a:r>
          </a:p>
          <a:p>
            <a:pPr marL="518158" lvl="1" indent="-259079" algn="l">
              <a:lnSpc>
                <a:spcPts val="4199"/>
              </a:lnSpc>
              <a:buFont typeface="Arial"/>
              <a:buChar char="•"/>
            </a:pPr>
            <a:r>
              <a:rPr lang="en-US" sz="2399" u="none" strike="noStrike">
                <a:solidFill>
                  <a:srgbClr val="185079"/>
                </a:solidFill>
                <a:latin typeface="Open Sauce"/>
                <a:ea typeface="Open Sauce"/>
                <a:cs typeface="Open Sauce"/>
                <a:sym typeface="Open Sauce"/>
              </a:rPr>
              <a:t>Using graphs to assess which  approach excels at resolving </a:t>
            </a:r>
            <a:r>
              <a:rPr lang="en-US" sz="2399" b="1" u="none" strike="noStrike">
                <a:solidFill>
                  <a:srgbClr val="185079"/>
                </a:solidFill>
                <a:latin typeface="Open Sauce Bold"/>
                <a:ea typeface="Open Sauce Bold"/>
                <a:cs typeface="Open Sauce Bold"/>
                <a:sym typeface="Open Sauce Bold"/>
              </a:rPr>
              <a:t>the Versicolor / Virginica boundary overlap</a:t>
            </a:r>
            <a:r>
              <a:rPr lang="en-US" sz="2399" u="none" strike="noStrike">
                <a:solidFill>
                  <a:srgbClr val="185079"/>
                </a:solidFill>
                <a:latin typeface="Open Sauce"/>
                <a:ea typeface="Open Sauce"/>
                <a:cs typeface="Open Sauce"/>
                <a:sym typeface="Open Sauce"/>
              </a:rPr>
              <a:t>.</a:t>
            </a:r>
          </a:p>
          <a:p>
            <a:pPr marL="518158" lvl="1" indent="-259079" algn="l">
              <a:lnSpc>
                <a:spcPts val="4199"/>
              </a:lnSpc>
              <a:buFont typeface="Arial"/>
              <a:buChar char="•"/>
            </a:pPr>
            <a:r>
              <a:rPr lang="en-US" sz="2399" u="none" strike="noStrike">
                <a:solidFill>
                  <a:srgbClr val="185079"/>
                </a:solidFill>
                <a:latin typeface="Open Sauce"/>
                <a:ea typeface="Open Sauce"/>
                <a:cs typeface="Open Sauce"/>
                <a:sym typeface="Open Sauce"/>
              </a:rPr>
              <a:t>Selecting the top-performing pipeline from the CV stage to evaluate against the untouched hold-out test set, to obtain final metrics like accuracy, confusion matrices, and precision scores.</a:t>
            </a:r>
          </a:p>
          <a:p>
            <a:pPr marL="0" lvl="0" indent="0" algn="l">
              <a:lnSpc>
                <a:spcPts val="3359"/>
              </a:lnSpc>
              <a:spcBef>
                <a:spcPct val="0"/>
              </a:spcBef>
            </a:pPr>
            <a:endParaRPr lang="en-US" sz="2399" u="none" strike="noStrike">
              <a:solidFill>
                <a:srgbClr val="185079"/>
              </a:solidFill>
              <a:latin typeface="Open Sauce"/>
              <a:ea typeface="Open Sauce"/>
              <a:cs typeface="Open Sauce"/>
              <a:sym typeface="Open Sauce"/>
            </a:endParaRPr>
          </a:p>
        </p:txBody>
      </p:sp>
      <p:pic>
        <p:nvPicPr>
          <p:cNvPr id="7" name="Picture 7"/>
          <p:cNvPicPr>
            <a:picLocks noChangeAspect="1"/>
          </p:cNvPicPr>
          <p:nvPr/>
        </p:nvPicPr>
        <p:blipFill>
          <a:blip r:embed="rId4"/>
          <a:stretch>
            <a:fillRect/>
          </a:stretch>
        </p:blipFill>
        <p:spPr>
          <a:xfrm>
            <a:off x="1057230" y="1423357"/>
            <a:ext cx="7846867" cy="67028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779814" y="3471078"/>
            <a:ext cx="9929044" cy="3874749"/>
          </a:xfrm>
          <a:custGeom>
            <a:avLst/>
            <a:gdLst/>
            <a:ahLst/>
            <a:cxnLst/>
            <a:rect l="l" t="t" r="r" b="b"/>
            <a:pathLst>
              <a:path w="9929044" h="3874749">
                <a:moveTo>
                  <a:pt x="0" y="0"/>
                </a:moveTo>
                <a:lnTo>
                  <a:pt x="9929044" y="0"/>
                </a:lnTo>
                <a:lnTo>
                  <a:pt x="9929044" y="3874749"/>
                </a:lnTo>
                <a:lnTo>
                  <a:pt x="0" y="3874749"/>
                </a:lnTo>
                <a:lnTo>
                  <a:pt x="0" y="0"/>
                </a:lnTo>
                <a:close/>
              </a:path>
            </a:pathLst>
          </a:custGeom>
          <a:blipFill>
            <a:blip r:embed="rId4"/>
            <a:stretch>
              <a:fillRect/>
            </a:stretch>
          </a:blipFill>
        </p:spPr>
      </p:sp>
      <p:sp>
        <p:nvSpPr>
          <p:cNvPr id="6" name="TextBox 6"/>
          <p:cNvSpPr txBox="1"/>
          <p:nvPr/>
        </p:nvSpPr>
        <p:spPr>
          <a:xfrm>
            <a:off x="10521500" y="2171295"/>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VISUALIZATIONS:</a:t>
            </a:r>
          </a:p>
        </p:txBody>
      </p:sp>
      <p:sp>
        <p:nvSpPr>
          <p:cNvPr id="7" name="TextBox 7"/>
          <p:cNvSpPr txBox="1"/>
          <p:nvPr/>
        </p:nvSpPr>
        <p:spPr>
          <a:xfrm>
            <a:off x="11041278" y="3242892"/>
            <a:ext cx="5698243" cy="2501265"/>
          </a:xfrm>
          <a:prstGeom prst="rect">
            <a:avLst/>
          </a:prstGeom>
        </p:spPr>
        <p:txBody>
          <a:bodyPr lIns="0" tIns="0" rIns="0" bIns="0" rtlCol="0" anchor="t">
            <a:spAutoFit/>
          </a:bodyPr>
          <a:lstStyle/>
          <a:p>
            <a:pPr algn="l">
              <a:lnSpc>
                <a:spcPts val="3359"/>
              </a:lnSpc>
            </a:pPr>
            <a:r>
              <a:rPr lang="en-US" sz="2399">
                <a:solidFill>
                  <a:srgbClr val="185079"/>
                </a:solidFill>
                <a:latin typeface="Open Sauce"/>
                <a:ea typeface="Open Sauce"/>
                <a:cs typeface="Open Sauce"/>
                <a:sym typeface="Open Sauce"/>
              </a:rPr>
              <a:t>Simple horizontal bar chart comparing the accuracies of the different models with each other.</a:t>
            </a:r>
          </a:p>
          <a:p>
            <a:pPr algn="l">
              <a:lnSpc>
                <a:spcPts val="3359"/>
              </a:lnSpc>
            </a:pPr>
            <a:endParaRPr lang="en-US" sz="2399">
              <a:solidFill>
                <a:srgbClr val="185079"/>
              </a:solidFill>
              <a:latin typeface="Open Sauce"/>
              <a:ea typeface="Open Sauce"/>
              <a:cs typeface="Open Sauce"/>
              <a:sym typeface="Open Sauce"/>
            </a:endParaRPr>
          </a:p>
          <a:p>
            <a:pPr algn="l">
              <a:lnSpc>
                <a:spcPts val="3359"/>
              </a:lnSpc>
            </a:pPr>
            <a:r>
              <a:rPr lang="en-US" sz="2399">
                <a:solidFill>
                  <a:srgbClr val="185079"/>
                </a:solidFill>
                <a:latin typeface="Open Sauce"/>
                <a:ea typeface="Open Sauce"/>
                <a:cs typeface="Open Sauce"/>
                <a:sym typeface="Open Sauce"/>
              </a:rPr>
              <a:t>We can see that the Gradient Boosting algorithm does the best.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028700" y="3453122"/>
            <a:ext cx="10292860" cy="4791620"/>
          </a:xfrm>
          <a:custGeom>
            <a:avLst/>
            <a:gdLst/>
            <a:ahLst/>
            <a:cxnLst/>
            <a:rect l="l" t="t" r="r" b="b"/>
            <a:pathLst>
              <a:path w="10292860" h="4791620">
                <a:moveTo>
                  <a:pt x="0" y="0"/>
                </a:moveTo>
                <a:lnTo>
                  <a:pt x="10292860" y="0"/>
                </a:lnTo>
                <a:lnTo>
                  <a:pt x="10292860" y="4791620"/>
                </a:lnTo>
                <a:lnTo>
                  <a:pt x="0" y="4791620"/>
                </a:lnTo>
                <a:lnTo>
                  <a:pt x="0" y="0"/>
                </a:lnTo>
                <a:close/>
              </a:path>
            </a:pathLst>
          </a:custGeom>
          <a:blipFill>
            <a:blip r:embed="rId4"/>
            <a:stretch>
              <a:fillRect/>
            </a:stretch>
          </a:blipFill>
        </p:spPr>
      </p:sp>
      <p:sp>
        <p:nvSpPr>
          <p:cNvPr id="6" name="TextBox 6"/>
          <p:cNvSpPr txBox="1"/>
          <p:nvPr/>
        </p:nvSpPr>
        <p:spPr>
          <a:xfrm>
            <a:off x="10521500" y="2171295"/>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VISUALIZATIONS:</a:t>
            </a:r>
          </a:p>
        </p:txBody>
      </p:sp>
      <p:sp>
        <p:nvSpPr>
          <p:cNvPr id="7" name="TextBox 7"/>
          <p:cNvSpPr txBox="1"/>
          <p:nvPr/>
        </p:nvSpPr>
        <p:spPr>
          <a:xfrm>
            <a:off x="11561057" y="3317187"/>
            <a:ext cx="5698243" cy="5015865"/>
          </a:xfrm>
          <a:prstGeom prst="rect">
            <a:avLst/>
          </a:prstGeom>
        </p:spPr>
        <p:txBody>
          <a:bodyPr lIns="0" tIns="0" rIns="0" bIns="0" rtlCol="0" anchor="t">
            <a:spAutoFit/>
          </a:bodyPr>
          <a:lstStyle/>
          <a:p>
            <a:pPr algn="l">
              <a:lnSpc>
                <a:spcPts val="3359"/>
              </a:lnSpc>
            </a:pPr>
            <a:r>
              <a:rPr lang="en-US" sz="2399">
                <a:solidFill>
                  <a:srgbClr val="185079"/>
                </a:solidFill>
                <a:latin typeface="Open Sauce"/>
                <a:ea typeface="Open Sauce"/>
                <a:cs typeface="Open Sauce"/>
                <a:sym typeface="Open Sauce"/>
              </a:rPr>
              <a:t>Confusion matrix is a simple table used to measure how well a classification model is performing. It compares the predictions made by the model with the actual results and shows where the model was right or wrong. </a:t>
            </a:r>
          </a:p>
          <a:p>
            <a:pPr marL="518158" lvl="1" indent="-259079" algn="l">
              <a:lnSpc>
                <a:spcPts val="3359"/>
              </a:lnSpc>
              <a:buFont typeface="Arial"/>
              <a:buChar char="•"/>
            </a:pPr>
            <a:r>
              <a:rPr lang="en-US" sz="2399" b="1">
                <a:solidFill>
                  <a:srgbClr val="185079"/>
                </a:solidFill>
                <a:latin typeface="Open Sauce Semi-Bold"/>
                <a:ea typeface="Open Sauce Semi-Bold"/>
                <a:cs typeface="Open Sauce Semi-Bold"/>
                <a:sym typeface="Open Sauce Semi-Bold"/>
              </a:rPr>
              <a:t>True Positive (TP):</a:t>
            </a:r>
            <a:r>
              <a:rPr lang="en-US" sz="2399">
                <a:solidFill>
                  <a:srgbClr val="185079"/>
                </a:solidFill>
                <a:latin typeface="Open Sauce"/>
                <a:ea typeface="Open Sauce"/>
                <a:cs typeface="Open Sauce"/>
                <a:sym typeface="Open Sauce"/>
              </a:rPr>
              <a:t> </a:t>
            </a:r>
          </a:p>
          <a:p>
            <a:pPr marL="518158" lvl="1" indent="-259079" algn="l">
              <a:lnSpc>
                <a:spcPts val="3359"/>
              </a:lnSpc>
              <a:buFont typeface="Arial"/>
              <a:buChar char="•"/>
            </a:pPr>
            <a:r>
              <a:rPr lang="en-US" sz="2399" b="1">
                <a:solidFill>
                  <a:srgbClr val="185079"/>
                </a:solidFill>
                <a:latin typeface="Open Sauce Semi-Bold"/>
                <a:ea typeface="Open Sauce Semi-Bold"/>
                <a:cs typeface="Open Sauce Semi-Bold"/>
                <a:sym typeface="Open Sauce Semi-Bold"/>
              </a:rPr>
              <a:t>True Negative (TN):</a:t>
            </a:r>
            <a:r>
              <a:rPr lang="en-US" sz="2399">
                <a:solidFill>
                  <a:srgbClr val="185079"/>
                </a:solidFill>
                <a:latin typeface="Open Sauce"/>
                <a:ea typeface="Open Sauce"/>
                <a:cs typeface="Open Sauce"/>
                <a:sym typeface="Open Sauce"/>
              </a:rPr>
              <a:t> </a:t>
            </a:r>
          </a:p>
          <a:p>
            <a:pPr marL="518158" lvl="1" indent="-259079" algn="l">
              <a:lnSpc>
                <a:spcPts val="3359"/>
              </a:lnSpc>
              <a:buFont typeface="Arial"/>
              <a:buChar char="•"/>
            </a:pPr>
            <a:r>
              <a:rPr lang="en-US" sz="2399" b="1">
                <a:solidFill>
                  <a:srgbClr val="185079"/>
                </a:solidFill>
                <a:latin typeface="Open Sauce Semi-Bold"/>
                <a:ea typeface="Open Sauce Semi-Bold"/>
                <a:cs typeface="Open Sauce Semi-Bold"/>
                <a:sym typeface="Open Sauce Semi-Bold"/>
              </a:rPr>
              <a:t>False Positive (FP): Type I error</a:t>
            </a:r>
          </a:p>
          <a:p>
            <a:pPr marL="518158" lvl="1" indent="-259079" algn="l">
              <a:lnSpc>
                <a:spcPts val="3359"/>
              </a:lnSpc>
              <a:buFont typeface="Arial"/>
              <a:buChar char="•"/>
            </a:pPr>
            <a:r>
              <a:rPr lang="en-US" sz="2399" b="1">
                <a:solidFill>
                  <a:srgbClr val="185079"/>
                </a:solidFill>
                <a:latin typeface="Open Sauce Semi-Bold"/>
                <a:ea typeface="Open Sauce Semi-Bold"/>
                <a:cs typeface="Open Sauce Semi-Bold"/>
                <a:sym typeface="Open Sauce Semi-Bold"/>
              </a:rPr>
              <a:t>False Negative (FN):</a:t>
            </a:r>
            <a:r>
              <a:rPr lang="en-US" sz="2399">
                <a:solidFill>
                  <a:srgbClr val="185079"/>
                </a:solidFill>
                <a:latin typeface="Open Sauce"/>
                <a:ea typeface="Open Sauce"/>
                <a:cs typeface="Open Sauce"/>
                <a:sym typeface="Open Sauce"/>
              </a:rPr>
              <a:t>  Type II error.</a:t>
            </a:r>
          </a:p>
          <a:p>
            <a:pPr marL="0" lvl="0" indent="0" algn="l">
              <a:lnSpc>
                <a:spcPts val="3359"/>
              </a:lnSpc>
              <a:spcBef>
                <a:spcPct val="0"/>
              </a:spcBef>
            </a:pPr>
            <a:endParaRPr lang="en-US" sz="2399">
              <a:solidFill>
                <a:srgbClr val="185079"/>
              </a:solidFill>
              <a:latin typeface="Open Sauce"/>
              <a:ea typeface="Open Sauce"/>
              <a:cs typeface="Open Sauce"/>
              <a:sym typeface="Open Sauc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097602" y="3015210"/>
            <a:ext cx="9423898" cy="5282886"/>
          </a:xfrm>
          <a:custGeom>
            <a:avLst/>
            <a:gdLst/>
            <a:ahLst/>
            <a:cxnLst/>
            <a:rect l="l" t="t" r="r" b="b"/>
            <a:pathLst>
              <a:path w="9423898" h="5282886">
                <a:moveTo>
                  <a:pt x="0" y="0"/>
                </a:moveTo>
                <a:lnTo>
                  <a:pt x="9423898" y="0"/>
                </a:lnTo>
                <a:lnTo>
                  <a:pt x="9423898" y="5282885"/>
                </a:lnTo>
                <a:lnTo>
                  <a:pt x="0" y="5282885"/>
                </a:lnTo>
                <a:lnTo>
                  <a:pt x="0" y="0"/>
                </a:lnTo>
                <a:close/>
              </a:path>
            </a:pathLst>
          </a:custGeom>
          <a:blipFill>
            <a:blip r:embed="rId4"/>
            <a:stretch>
              <a:fillRect/>
            </a:stretch>
          </a:blipFill>
        </p:spPr>
      </p:sp>
      <p:sp>
        <p:nvSpPr>
          <p:cNvPr id="6" name="TextBox 6"/>
          <p:cNvSpPr txBox="1"/>
          <p:nvPr/>
        </p:nvSpPr>
        <p:spPr>
          <a:xfrm>
            <a:off x="10521500" y="2171295"/>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VISUALIZATIONS:</a:t>
            </a:r>
          </a:p>
        </p:txBody>
      </p:sp>
      <p:sp>
        <p:nvSpPr>
          <p:cNvPr id="7" name="TextBox 7"/>
          <p:cNvSpPr txBox="1"/>
          <p:nvPr/>
        </p:nvSpPr>
        <p:spPr>
          <a:xfrm>
            <a:off x="11041278" y="3242892"/>
            <a:ext cx="5698243" cy="3339465"/>
          </a:xfrm>
          <a:prstGeom prst="rect">
            <a:avLst/>
          </a:prstGeom>
        </p:spPr>
        <p:txBody>
          <a:bodyPr lIns="0" tIns="0" rIns="0" bIns="0" rtlCol="0" anchor="t">
            <a:spAutoFit/>
          </a:bodyPr>
          <a:lstStyle/>
          <a:p>
            <a:pPr algn="l">
              <a:lnSpc>
                <a:spcPts val="3359"/>
              </a:lnSpc>
            </a:pPr>
            <a:r>
              <a:rPr lang="en-US" sz="2399">
                <a:solidFill>
                  <a:srgbClr val="185079"/>
                </a:solidFill>
                <a:latin typeface="Open Sauce"/>
                <a:ea typeface="Open Sauce"/>
                <a:cs typeface="Open Sauce"/>
                <a:sym typeface="Open Sauce"/>
              </a:rPr>
              <a:t>Feature Importance in Random Forests measures how much each feature contributes to the model’s prediction accuracy. It helps in identifying the most influential input variables, improving performance, interpretability and computational efficiency.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948915" y="2559915"/>
            <a:ext cx="8098113" cy="5713537"/>
          </a:xfrm>
          <a:custGeom>
            <a:avLst/>
            <a:gdLst/>
            <a:ahLst/>
            <a:cxnLst/>
            <a:rect l="l" t="t" r="r" b="b"/>
            <a:pathLst>
              <a:path w="8098113" h="5713537">
                <a:moveTo>
                  <a:pt x="0" y="0"/>
                </a:moveTo>
                <a:lnTo>
                  <a:pt x="8098113" y="0"/>
                </a:lnTo>
                <a:lnTo>
                  <a:pt x="8098113" y="5713537"/>
                </a:lnTo>
                <a:lnTo>
                  <a:pt x="0" y="5713537"/>
                </a:lnTo>
                <a:lnTo>
                  <a:pt x="0" y="0"/>
                </a:lnTo>
                <a:close/>
              </a:path>
            </a:pathLst>
          </a:custGeom>
          <a:blipFill>
            <a:blip r:embed="rId4"/>
            <a:stretch>
              <a:fillRect/>
            </a:stretch>
          </a:blipFill>
        </p:spPr>
      </p:sp>
      <p:sp>
        <p:nvSpPr>
          <p:cNvPr id="6" name="TextBox 6"/>
          <p:cNvSpPr txBox="1"/>
          <p:nvPr/>
        </p:nvSpPr>
        <p:spPr>
          <a:xfrm>
            <a:off x="10521500" y="2171295"/>
            <a:ext cx="6737800" cy="843915"/>
          </a:xfrm>
          <a:prstGeom prst="rect">
            <a:avLst/>
          </a:prstGeom>
        </p:spPr>
        <p:txBody>
          <a:bodyPr lIns="0" tIns="0" rIns="0" bIns="0" rtlCol="0" anchor="t">
            <a:spAutoFit/>
          </a:bodyPr>
          <a:lstStyle/>
          <a:p>
            <a:pPr marL="0" lvl="0" indent="0" algn="l">
              <a:lnSpc>
                <a:spcPts val="6479"/>
              </a:lnSpc>
              <a:spcBef>
                <a:spcPct val="0"/>
              </a:spcBef>
            </a:pPr>
            <a:r>
              <a:rPr lang="en-US" sz="5999" b="1" spc="-353">
                <a:solidFill>
                  <a:srgbClr val="185079"/>
                </a:solidFill>
                <a:latin typeface="Open Sauce Semi-Bold"/>
                <a:ea typeface="Open Sauce Semi-Bold"/>
                <a:cs typeface="Open Sauce Semi-Bold"/>
                <a:sym typeface="Open Sauce Semi-Bold"/>
              </a:rPr>
              <a:t>VISUALIZATIONS:</a:t>
            </a:r>
          </a:p>
        </p:txBody>
      </p:sp>
      <p:sp>
        <p:nvSpPr>
          <p:cNvPr id="7" name="TextBox 7"/>
          <p:cNvSpPr txBox="1"/>
          <p:nvPr/>
        </p:nvSpPr>
        <p:spPr>
          <a:xfrm>
            <a:off x="11041278" y="3242892"/>
            <a:ext cx="5698243" cy="5015865"/>
          </a:xfrm>
          <a:prstGeom prst="rect">
            <a:avLst/>
          </a:prstGeom>
        </p:spPr>
        <p:txBody>
          <a:bodyPr lIns="0" tIns="0" rIns="0" bIns="0" rtlCol="0" anchor="t">
            <a:spAutoFit/>
          </a:bodyPr>
          <a:lstStyle/>
          <a:p>
            <a:pPr algn="l">
              <a:lnSpc>
                <a:spcPts val="3359"/>
              </a:lnSpc>
            </a:pPr>
            <a:r>
              <a:rPr lang="en-US" sz="2399">
                <a:solidFill>
                  <a:srgbClr val="185079"/>
                </a:solidFill>
                <a:latin typeface="Open Sauce"/>
                <a:ea typeface="Open Sauce"/>
                <a:cs typeface="Open Sauce"/>
                <a:sym typeface="Open Sauce"/>
              </a:rPr>
              <a:t>F1 Score is a metric used to evaluate the performance of a classification model. It combines precision and recall into a single value and is especially useful when the dataset has imbalanced classes.</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Combines precision and recall into one metric.</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Useful for imbalanced datasets.</a:t>
            </a:r>
          </a:p>
          <a:p>
            <a:pPr marL="518158" lvl="1" indent="-259079" algn="l">
              <a:lnSpc>
                <a:spcPts val="3359"/>
              </a:lnSpc>
              <a:buFont typeface="Arial"/>
              <a:buChar char="•"/>
            </a:pPr>
            <a:r>
              <a:rPr lang="en-US" sz="2399">
                <a:solidFill>
                  <a:srgbClr val="185079"/>
                </a:solidFill>
                <a:latin typeface="Open Sauce"/>
                <a:ea typeface="Open Sauce"/>
                <a:cs typeface="Open Sauce"/>
                <a:sym typeface="Open Sauce"/>
              </a:rPr>
              <a:t>Higher F1 Score means better performance.</a:t>
            </a:r>
          </a:p>
          <a:p>
            <a:pPr algn="l">
              <a:lnSpc>
                <a:spcPts val="3359"/>
              </a:lnSpc>
            </a:pPr>
            <a:endParaRPr lang="en-US" sz="2399">
              <a:solidFill>
                <a:srgbClr val="185079"/>
              </a:solidFill>
              <a:latin typeface="Open Sauce"/>
              <a:ea typeface="Open Sauce"/>
              <a:cs typeface="Open Sauce"/>
              <a:sym typeface="Open Sauc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TextBox 5"/>
          <p:cNvSpPr txBox="1"/>
          <p:nvPr/>
        </p:nvSpPr>
        <p:spPr>
          <a:xfrm>
            <a:off x="3996910" y="2055340"/>
            <a:ext cx="13741133" cy="843915"/>
          </a:xfrm>
          <a:prstGeom prst="rect">
            <a:avLst/>
          </a:prstGeom>
        </p:spPr>
        <p:txBody>
          <a:bodyPr lIns="0" tIns="0" rIns="0" bIns="0" rtlCol="0" anchor="t">
            <a:spAutoFit/>
          </a:bodyPr>
          <a:lstStyle/>
          <a:p>
            <a:pPr marL="0" lvl="0" indent="0" algn="l">
              <a:lnSpc>
                <a:spcPts val="6480"/>
              </a:lnSpc>
              <a:spcBef>
                <a:spcPct val="0"/>
              </a:spcBef>
            </a:pPr>
            <a:r>
              <a:rPr lang="en-US" sz="6000" b="1" spc="-354">
                <a:solidFill>
                  <a:srgbClr val="185079"/>
                </a:solidFill>
                <a:latin typeface="Open Sauce Semi-Bold"/>
                <a:ea typeface="Open Sauce Semi-Bold"/>
                <a:cs typeface="Open Sauce Semi-Bold"/>
                <a:sym typeface="Open Sauce Semi-Bold"/>
              </a:rPr>
              <a:t>PROBLEMS ENCOUNTERED:</a:t>
            </a:r>
          </a:p>
        </p:txBody>
      </p:sp>
      <p:sp>
        <p:nvSpPr>
          <p:cNvPr id="6" name="TextBox 6"/>
          <p:cNvSpPr txBox="1"/>
          <p:nvPr/>
        </p:nvSpPr>
        <p:spPr>
          <a:xfrm>
            <a:off x="2927829" y="3182369"/>
            <a:ext cx="12432342" cy="4360411"/>
          </a:xfrm>
          <a:prstGeom prst="rect">
            <a:avLst/>
          </a:prstGeom>
        </p:spPr>
        <p:txBody>
          <a:bodyPr lIns="0" tIns="0" rIns="0" bIns="0" rtlCol="0" anchor="t">
            <a:spAutoFit/>
          </a:bodyPr>
          <a:lstStyle/>
          <a:p>
            <a:pPr marL="568240" lvl="1" indent="-284120" algn="l">
              <a:lnSpc>
                <a:spcPts val="4974"/>
              </a:lnSpc>
              <a:buAutoNum type="arabicPeriod"/>
            </a:pPr>
            <a:r>
              <a:rPr lang="en-US" sz="2631" b="1">
                <a:solidFill>
                  <a:srgbClr val="185079"/>
                </a:solidFill>
                <a:latin typeface="Poppins Bold"/>
                <a:ea typeface="Poppins Bold"/>
                <a:cs typeface="Poppins Bold"/>
                <a:sym typeface="Poppins Bold"/>
              </a:rPr>
              <a:t>Understanding the requirement for standard scaler: it threw off my accuracies many times.</a:t>
            </a:r>
          </a:p>
          <a:p>
            <a:pPr marL="568240" lvl="1" indent="-284120" algn="l">
              <a:lnSpc>
                <a:spcPts val="4974"/>
              </a:lnSpc>
              <a:buAutoNum type="arabicPeriod"/>
            </a:pPr>
            <a:r>
              <a:rPr lang="en-US" sz="2631" b="1">
                <a:solidFill>
                  <a:srgbClr val="185079"/>
                </a:solidFill>
                <a:latin typeface="Poppins Bold"/>
                <a:ea typeface="Poppins Bold"/>
                <a:cs typeface="Poppins Bold"/>
                <a:sym typeface="Poppins Bold"/>
              </a:rPr>
              <a:t> Choosing which graphs to use for visualizations and which ones to use for EDA.</a:t>
            </a:r>
          </a:p>
          <a:p>
            <a:pPr marL="568240" lvl="1" indent="-284120" algn="l">
              <a:lnSpc>
                <a:spcPts val="4974"/>
              </a:lnSpc>
              <a:buAutoNum type="arabicPeriod"/>
            </a:pPr>
            <a:r>
              <a:rPr lang="en-US" sz="2631" b="1">
                <a:solidFill>
                  <a:srgbClr val="185079"/>
                </a:solidFill>
                <a:latin typeface="Poppins Bold"/>
                <a:ea typeface="Poppins Bold"/>
                <a:cs typeface="Poppins Bold"/>
                <a:sym typeface="Poppins Bold"/>
              </a:rPr>
              <a:t>A lot of unfamiliar keywords that kept throwing me off even if I had experience with it in a different context.</a:t>
            </a:r>
          </a:p>
          <a:p>
            <a:pPr marL="568240" lvl="1" indent="-284120" algn="l">
              <a:lnSpc>
                <a:spcPts val="4974"/>
              </a:lnSpc>
              <a:buAutoNum type="arabicPeriod"/>
            </a:pPr>
            <a:r>
              <a:rPr lang="en-US" sz="2631" b="1">
                <a:solidFill>
                  <a:srgbClr val="185079"/>
                </a:solidFill>
                <a:latin typeface="Poppins Bold"/>
                <a:ea typeface="Poppins Bold"/>
                <a:cs typeface="Poppins Bold"/>
                <a:sym typeface="Poppins Bold"/>
              </a:rPr>
              <a:t>The different evaluation metrics were a little confusing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775837" y="757775"/>
            <a:ext cx="16736327" cy="8771450"/>
            <a:chOff x="0" y="0"/>
            <a:chExt cx="4407921" cy="2310176"/>
          </a:xfrm>
        </p:grpSpPr>
        <p:sp>
          <p:nvSpPr>
            <p:cNvPr id="4" name="Freeform 4"/>
            <p:cNvSpPr/>
            <p:nvPr/>
          </p:nvSpPr>
          <p:spPr>
            <a:xfrm>
              <a:off x="0" y="0"/>
              <a:ext cx="4407921" cy="2310176"/>
            </a:xfrm>
            <a:custGeom>
              <a:avLst/>
              <a:gdLst/>
              <a:ahLst/>
              <a:cxnLst/>
              <a:rect l="l" t="t" r="r" b="b"/>
              <a:pathLst>
                <a:path w="4407921" h="2310176">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id="5" name="TextBox 5"/>
            <p:cNvSpPr txBox="1"/>
            <p:nvPr/>
          </p:nvSpPr>
          <p:spPr>
            <a:xfrm>
              <a:off x="0" y="-38100"/>
              <a:ext cx="4407921" cy="234827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610458" y="3116567"/>
            <a:ext cx="8871123" cy="1102866"/>
          </a:xfrm>
          <a:prstGeom prst="rect">
            <a:avLst/>
          </a:prstGeom>
        </p:spPr>
        <p:txBody>
          <a:bodyPr lIns="0" tIns="0" rIns="0" bIns="0" rtlCol="0" anchor="t">
            <a:spAutoFit/>
          </a:bodyPr>
          <a:lstStyle/>
          <a:p>
            <a:pPr marL="0" lvl="0" indent="0" algn="ctr">
              <a:lnSpc>
                <a:spcPts val="8550"/>
              </a:lnSpc>
              <a:spcBef>
                <a:spcPct val="0"/>
              </a:spcBef>
            </a:pPr>
            <a:r>
              <a:rPr lang="en-US" sz="7917" b="1" spc="-467" dirty="0">
                <a:solidFill>
                  <a:srgbClr val="185079"/>
                </a:solidFill>
                <a:latin typeface="Open Sauce Semi-Bold"/>
                <a:ea typeface="Open Sauce Semi-Bold"/>
                <a:cs typeface="Open Sauce Semi-Bold"/>
                <a:sym typeface="Open Sauce Semi-Bold"/>
              </a:rPr>
              <a:t>C</a:t>
            </a:r>
            <a:r>
              <a:rPr lang="en-US" sz="7917" b="1" u="none" strike="noStrike" spc="-467" dirty="0">
                <a:solidFill>
                  <a:srgbClr val="185079"/>
                </a:solidFill>
                <a:latin typeface="Open Sauce Semi-Bold"/>
                <a:ea typeface="Open Sauce Semi-Bold"/>
                <a:cs typeface="Open Sauce Semi-Bold"/>
                <a:sym typeface="Open Sauce Semi-Bold"/>
              </a:rPr>
              <a:t>ONCLUSION</a:t>
            </a:r>
          </a:p>
        </p:txBody>
      </p:sp>
      <p:sp>
        <p:nvSpPr>
          <p:cNvPr id="7" name="TextBox 7"/>
          <p:cNvSpPr txBox="1"/>
          <p:nvPr/>
        </p:nvSpPr>
        <p:spPr>
          <a:xfrm>
            <a:off x="3743475" y="4229100"/>
            <a:ext cx="10801050" cy="3226182"/>
          </a:xfrm>
          <a:prstGeom prst="rect">
            <a:avLst/>
          </a:prstGeom>
        </p:spPr>
        <p:txBody>
          <a:bodyPr lIns="0" tIns="0" rIns="0" bIns="0" rtlCol="0" anchor="t">
            <a:spAutoFit/>
          </a:bodyPr>
          <a:lstStyle/>
          <a:p>
            <a:pPr algn="l">
              <a:lnSpc>
                <a:spcPts val="4311"/>
              </a:lnSpc>
            </a:pPr>
            <a:r>
              <a:rPr lang="en-US" sz="2199" b="1" dirty="0">
                <a:solidFill>
                  <a:srgbClr val="185079"/>
                </a:solidFill>
                <a:latin typeface="Poppins Bold"/>
                <a:ea typeface="Poppins Bold"/>
                <a:cs typeface="Poppins Bold"/>
                <a:sym typeface="Poppins Bold"/>
              </a:rPr>
              <a:t>Thus, an understanding of the basic supervised models was achieved. </a:t>
            </a:r>
          </a:p>
          <a:p>
            <a:pPr marL="474978" lvl="1" indent="-237489" algn="l">
              <a:lnSpc>
                <a:spcPts val="4311"/>
              </a:lnSpc>
              <a:buFont typeface="Arial"/>
              <a:buChar char="•"/>
            </a:pPr>
            <a:r>
              <a:rPr lang="en-US" sz="2199" b="1" dirty="0">
                <a:solidFill>
                  <a:srgbClr val="185079"/>
                </a:solidFill>
                <a:latin typeface="Poppins Bold"/>
                <a:ea typeface="Poppins Bold"/>
                <a:cs typeface="Poppins Bold"/>
                <a:sym typeface="Poppins Bold"/>
              </a:rPr>
              <a:t> Built a reliable model comparison script that works on the classic Iris dataset and gives a </a:t>
            </a:r>
            <a:r>
              <a:rPr lang="en-US" sz="2199" b="1" dirty="0" err="1">
                <a:solidFill>
                  <a:srgbClr val="185079"/>
                </a:solidFill>
                <a:latin typeface="Poppins Bold"/>
                <a:ea typeface="Poppins Bold"/>
                <a:cs typeface="Poppins Bold"/>
                <a:sym typeface="Poppins Bold"/>
              </a:rPr>
              <a:t>comparitive</a:t>
            </a:r>
            <a:r>
              <a:rPr lang="en-US" sz="2199" b="1" dirty="0">
                <a:solidFill>
                  <a:srgbClr val="185079"/>
                </a:solidFill>
                <a:latin typeface="Poppins Bold"/>
                <a:ea typeface="Poppins Bold"/>
                <a:cs typeface="Poppins Bold"/>
                <a:sym typeface="Poppins Bold"/>
              </a:rPr>
              <a:t> look at the 7 models.</a:t>
            </a:r>
          </a:p>
          <a:p>
            <a:pPr marL="474978" lvl="1" indent="-237489" algn="l">
              <a:lnSpc>
                <a:spcPts val="4311"/>
              </a:lnSpc>
              <a:buFont typeface="Arial"/>
              <a:buChar char="•"/>
            </a:pPr>
            <a:r>
              <a:rPr lang="en-US" sz="2199" b="1" dirty="0">
                <a:solidFill>
                  <a:srgbClr val="185079"/>
                </a:solidFill>
                <a:latin typeface="Poppins Bold"/>
                <a:ea typeface="Poppins Bold"/>
                <a:cs typeface="Poppins Bold"/>
                <a:sym typeface="Poppins Bold"/>
              </a:rPr>
              <a:t>Confirmed an elite 97.37% accuracy score, proving that the models easily handle complex classification limits.</a:t>
            </a:r>
          </a:p>
          <a:p>
            <a:pPr marL="0" lvl="0" indent="0" algn="l">
              <a:lnSpc>
                <a:spcPts val="4311"/>
              </a:lnSpc>
            </a:pPr>
            <a:endParaRPr lang="en-US" sz="2199" b="1" dirty="0">
              <a:solidFill>
                <a:srgbClr val="185079"/>
              </a:solidFill>
              <a:latin typeface="Poppins Bold"/>
              <a:ea typeface="Poppins Bold"/>
              <a:cs typeface="Poppins Bold"/>
              <a:sym typeface="Poppins 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TextBox 5"/>
          <p:cNvSpPr txBox="1"/>
          <p:nvPr/>
        </p:nvSpPr>
        <p:spPr>
          <a:xfrm>
            <a:off x="2273433" y="2029201"/>
            <a:ext cx="13741133" cy="1109452"/>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REFERENCES:</a:t>
            </a:r>
          </a:p>
        </p:txBody>
      </p:sp>
      <p:sp>
        <p:nvSpPr>
          <p:cNvPr id="6" name="TextBox 6"/>
          <p:cNvSpPr txBox="1"/>
          <p:nvPr/>
        </p:nvSpPr>
        <p:spPr>
          <a:xfrm>
            <a:off x="2273433" y="3014828"/>
            <a:ext cx="14073748" cy="6841617"/>
          </a:xfrm>
          <a:prstGeom prst="rect">
            <a:avLst/>
          </a:prstGeom>
        </p:spPr>
        <p:txBody>
          <a:bodyPr lIns="0" tIns="0" rIns="0" bIns="0" rtlCol="0" anchor="t">
            <a:spAutoFit/>
          </a:bodyPr>
          <a:lstStyle/>
          <a:p>
            <a:pPr marL="345439" lvl="1" indent="-172720" algn="l">
              <a:lnSpc>
                <a:spcPts val="3023"/>
              </a:lnSpc>
              <a:buAutoNum type="arabicPeriod"/>
            </a:pPr>
            <a:r>
              <a:rPr lang="en-US" sz="1599" b="1">
                <a:solidFill>
                  <a:srgbClr val="185079"/>
                </a:solidFill>
                <a:latin typeface="Poppins Bold"/>
                <a:ea typeface="Poppins Bold"/>
                <a:cs typeface="Poppins Bold"/>
                <a:sym typeface="Poppins Bold"/>
              </a:rPr>
              <a:t>GeeksforGeeks. (n.d.). Support vector machine algorithm. GeeksforGeeks. Retrieved May 31, 2026, from </a:t>
            </a:r>
            <a:r>
              <a:rPr lang="en-US" sz="1599" b="1" u="sng">
                <a:solidFill>
                  <a:srgbClr val="185079"/>
                </a:solidFill>
                <a:latin typeface="Poppins Bold"/>
                <a:ea typeface="Poppins Bold"/>
                <a:cs typeface="Poppins Bold"/>
                <a:sym typeface="Poppins Bold"/>
                <a:hlinkClick r:id="rId4" tooltip="https://www.geeksforgeeks.org/machine-learning/support-vector-machine-algorithm/?utm_source=chatgpt.com"/>
              </a:rPr>
              <a:t>GeeksforGeeks SVM Article</a:t>
            </a:r>
            <a:r>
              <a:rPr lang="en-US" sz="1599" b="1">
                <a:solidFill>
                  <a:srgbClr val="185079"/>
                </a:solidFill>
                <a:latin typeface="Poppins Bold"/>
                <a:ea typeface="Poppins Bold"/>
                <a:cs typeface="Poppins Bold"/>
                <a:sym typeface="Poppins Bold"/>
              </a:rPr>
              <a:t> </a:t>
            </a:r>
          </a:p>
          <a:p>
            <a:pPr marL="345439" lvl="1" indent="-172720" algn="l">
              <a:lnSpc>
                <a:spcPts val="3023"/>
              </a:lnSpc>
              <a:buAutoNum type="arabicPeriod"/>
            </a:pPr>
            <a:r>
              <a:rPr lang="en-US" sz="1599" b="1">
                <a:solidFill>
                  <a:srgbClr val="185079"/>
                </a:solidFill>
                <a:latin typeface="Poppins Bold"/>
                <a:ea typeface="Poppins Bold"/>
                <a:cs typeface="Poppins Bold"/>
                <a:sym typeface="Poppins Bold"/>
              </a:rPr>
              <a:t>GeeksforGeeks. (n.d.). Decision tree: Introduction with example. GeeksforGeeks. Retrieved May 31, 2026, from </a:t>
            </a:r>
            <a:r>
              <a:rPr lang="en-US" sz="1599" b="1" u="sng">
                <a:solidFill>
                  <a:srgbClr val="185079"/>
                </a:solidFill>
                <a:latin typeface="Poppins Bold"/>
                <a:ea typeface="Poppins Bold"/>
                <a:cs typeface="Poppins Bold"/>
                <a:sym typeface="Poppins Bold"/>
                <a:hlinkClick r:id="rId5" tooltip="https://www.geeksforgeeks.org/machine-learning/decision-tree-introduction-example/?utm_source=chatgpt.com"/>
              </a:rPr>
              <a:t>GeeksforGeeks Decision Tree Article</a:t>
            </a:r>
            <a:r>
              <a:rPr lang="en-US" sz="1599" b="1">
                <a:solidFill>
                  <a:srgbClr val="185079"/>
                </a:solidFill>
                <a:latin typeface="Poppins Bold"/>
                <a:ea typeface="Poppins Bold"/>
                <a:cs typeface="Poppins Bold"/>
                <a:sym typeface="Poppins Bold"/>
              </a:rPr>
              <a:t> </a:t>
            </a:r>
          </a:p>
          <a:p>
            <a:pPr marL="345439" lvl="1" indent="-172720" algn="l">
              <a:lnSpc>
                <a:spcPts val="3023"/>
              </a:lnSpc>
              <a:buAutoNum type="arabicPeriod"/>
            </a:pPr>
            <a:r>
              <a:rPr lang="en-US" sz="1599" b="1">
                <a:solidFill>
                  <a:srgbClr val="185079"/>
                </a:solidFill>
                <a:latin typeface="Poppins Bold"/>
                <a:ea typeface="Poppins Bold"/>
                <a:cs typeface="Poppins Bold"/>
                <a:sym typeface="Poppins Bold"/>
              </a:rPr>
              <a:t>GeeksforGeeks. (n.d.). Gradient boosting in machine learning. GeeksforGeeks. Retrieved May 31, 2026, from </a:t>
            </a:r>
            <a:r>
              <a:rPr lang="en-US" sz="1599" b="1" u="sng">
                <a:solidFill>
                  <a:srgbClr val="185079"/>
                </a:solidFill>
                <a:latin typeface="Poppins Bold"/>
                <a:ea typeface="Poppins Bold"/>
                <a:cs typeface="Poppins Bold"/>
                <a:sym typeface="Poppins Bold"/>
                <a:hlinkClick r:id="rId6" tooltip="https://www.geeksforgeeks.org/machine-learning/ml-gradient-boosting/?utm_source=chatgpt.com"/>
              </a:rPr>
              <a:t>GeeksforGeeks Gradient Boosting Article</a:t>
            </a:r>
          </a:p>
          <a:p>
            <a:pPr marL="345439" lvl="1" indent="-172720" algn="l">
              <a:lnSpc>
                <a:spcPts val="3023"/>
              </a:lnSpc>
              <a:buAutoNum type="arabicPeriod"/>
            </a:pPr>
            <a:r>
              <a:rPr lang="en-US" sz="1599" b="1">
                <a:solidFill>
                  <a:srgbClr val="185079"/>
                </a:solidFill>
                <a:latin typeface="Poppins Bold"/>
                <a:ea typeface="Poppins Bold"/>
                <a:cs typeface="Poppins Bold"/>
                <a:sym typeface="Poppins Bold"/>
              </a:rPr>
              <a:t>GeeksforGeeks. (n.d.). Naive Bayes classifiers. GeeksforGeeks. Retrieved May 31, 2026, from </a:t>
            </a:r>
            <a:r>
              <a:rPr lang="en-US" sz="1599" b="1" u="sng">
                <a:solidFill>
                  <a:srgbClr val="185079"/>
                </a:solidFill>
                <a:latin typeface="Poppins Bold"/>
                <a:ea typeface="Poppins Bold"/>
                <a:cs typeface="Poppins Bold"/>
                <a:sym typeface="Poppins Bold"/>
                <a:hlinkClick r:id="rId7" tooltip="https://www.geeksforgeeks.org/machine-learning/naive-bayes-classifiers/?utm_source=chatgpt.com"/>
              </a:rPr>
              <a:t>GeeksforGeeks Naive Bayes Article</a:t>
            </a:r>
          </a:p>
          <a:p>
            <a:pPr marL="345439" lvl="1" indent="-172720" algn="l">
              <a:lnSpc>
                <a:spcPts val="3023"/>
              </a:lnSpc>
              <a:buAutoNum type="arabicPeriod"/>
            </a:pPr>
            <a:r>
              <a:rPr lang="en-US" sz="1599" b="1">
                <a:solidFill>
                  <a:srgbClr val="185079"/>
                </a:solidFill>
                <a:latin typeface="Poppins Bold"/>
                <a:ea typeface="Poppins Bold"/>
                <a:cs typeface="Poppins Bold"/>
                <a:sym typeface="Poppins Bold"/>
              </a:rPr>
              <a:t>GeeksforGeeks. (n.d.). K-nearest neighbours. GeeksforGeeks. Retrieved May 31, 2026, from </a:t>
            </a:r>
            <a:r>
              <a:rPr lang="en-US" sz="1599" b="1" u="sng">
                <a:solidFill>
                  <a:srgbClr val="185079"/>
                </a:solidFill>
                <a:latin typeface="Poppins Bold"/>
                <a:ea typeface="Poppins Bold"/>
                <a:cs typeface="Poppins Bold"/>
                <a:sym typeface="Poppins Bold"/>
                <a:hlinkClick r:id="rId8" tooltip="https://www.geeksforgeeks.org/machine-learning/k-nearest-neighbours/?utm_source=chatgpt.com"/>
              </a:rPr>
              <a:t>GeeksforGeeks KNN Article</a:t>
            </a:r>
          </a:p>
          <a:p>
            <a:pPr marL="345439" lvl="1" indent="-172720" algn="l">
              <a:lnSpc>
                <a:spcPts val="3023"/>
              </a:lnSpc>
              <a:buAutoNum type="arabicPeriod"/>
            </a:pPr>
            <a:r>
              <a:rPr lang="en-US" sz="1599" b="1">
                <a:solidFill>
                  <a:srgbClr val="185079"/>
                </a:solidFill>
                <a:latin typeface="Poppins Bold"/>
                <a:ea typeface="Poppins Bold"/>
                <a:cs typeface="Poppins Bold"/>
                <a:sym typeface="Poppins Bold"/>
              </a:rPr>
              <a:t>GeeksforGeeks. (n.d.). Understanding logistic regression. GeeksforGeeks. Retrieved May 31, 2026, from </a:t>
            </a:r>
            <a:r>
              <a:rPr lang="en-US" sz="1599" b="1" u="sng">
                <a:solidFill>
                  <a:srgbClr val="185079"/>
                </a:solidFill>
                <a:latin typeface="Poppins Bold"/>
                <a:ea typeface="Poppins Bold"/>
                <a:cs typeface="Poppins Bold"/>
                <a:sym typeface="Poppins Bold"/>
                <a:hlinkClick r:id="rId9" tooltip="https://www.geeksforgeeks.org/machine-learning/understanding-logistic-regression/?utm_source=chatgpt.com"/>
              </a:rPr>
              <a:t>GeeksforGeeks Logistic Regression Article</a:t>
            </a:r>
          </a:p>
          <a:p>
            <a:pPr marL="345439" lvl="1" indent="-172720" algn="l">
              <a:lnSpc>
                <a:spcPts val="3023"/>
              </a:lnSpc>
              <a:buAutoNum type="arabicPeriod"/>
            </a:pPr>
            <a:r>
              <a:rPr lang="en-US" sz="1599" b="1" u="sng">
                <a:solidFill>
                  <a:srgbClr val="185079"/>
                </a:solidFill>
                <a:latin typeface="Poppins Bold"/>
                <a:ea typeface="Poppins Bold"/>
                <a:cs typeface="Poppins Bold"/>
                <a:sym typeface="Poppins Bold"/>
              </a:rPr>
              <a:t>GeeksforGeeks. (n.d.). Random forest algorithm in machine learning. GeeksforGeeks. Retrieved May 31, 2026, from </a:t>
            </a:r>
            <a:r>
              <a:rPr lang="en-US" sz="1599" b="1" u="sng">
                <a:solidFill>
                  <a:srgbClr val="185079"/>
                </a:solidFill>
                <a:latin typeface="Poppins Bold"/>
                <a:ea typeface="Poppins Bold"/>
                <a:cs typeface="Poppins Bold"/>
                <a:sym typeface="Poppins Bold"/>
                <a:hlinkClick r:id="rId10" tooltip="https://www.geeksforgeeks.org/machine-learning/random-forest-algorithm-in-machine-learning/"/>
              </a:rPr>
              <a:t>https://www.geeksforgeeks.org/machine-learning/random-forest-algorithm-in-machine-learning/</a:t>
            </a:r>
          </a:p>
          <a:p>
            <a:pPr marL="345439" lvl="1" indent="-172720" algn="l">
              <a:lnSpc>
                <a:spcPts val="3023"/>
              </a:lnSpc>
              <a:buAutoNum type="arabicPeriod"/>
            </a:pPr>
            <a:r>
              <a:rPr lang="en-US" sz="1599" b="1" u="sng">
                <a:solidFill>
                  <a:srgbClr val="185079"/>
                </a:solidFill>
                <a:latin typeface="Poppins Bold"/>
                <a:ea typeface="Poppins Bold"/>
                <a:cs typeface="Poppins Bold"/>
                <a:sym typeface="Poppins Bold"/>
              </a:rPr>
              <a:t>GeeksforGeeks. (n.d.). Feature importance with random forests. GeeksforGeeks. Retrieved May 31, 2026, from </a:t>
            </a:r>
            <a:r>
              <a:rPr lang="en-US" sz="1599" b="1" u="sng">
                <a:solidFill>
                  <a:srgbClr val="185079"/>
                </a:solidFill>
                <a:latin typeface="Poppins Bold"/>
                <a:ea typeface="Poppins Bold"/>
                <a:cs typeface="Poppins Bold"/>
                <a:sym typeface="Poppins Bold"/>
                <a:hlinkClick r:id="rId11" tooltip="https://www.geeksforgeeks.org/machine-learning/feature-importance-with-random-forests/"/>
              </a:rPr>
              <a:t>https://www.geeksforgeeks.org/machine-learning/feature-importance-with-random-forests/</a:t>
            </a:r>
          </a:p>
          <a:p>
            <a:pPr marL="345439" lvl="1" indent="-172720" algn="l">
              <a:lnSpc>
                <a:spcPts val="3023"/>
              </a:lnSpc>
              <a:buAutoNum type="arabicPeriod"/>
            </a:pPr>
            <a:r>
              <a:rPr lang="en-US" sz="1599" b="1" u="sng">
                <a:solidFill>
                  <a:srgbClr val="185079"/>
                </a:solidFill>
                <a:latin typeface="Poppins Bold"/>
                <a:ea typeface="Poppins Bold"/>
                <a:cs typeface="Poppins Bold"/>
                <a:sym typeface="Poppins Bold"/>
              </a:rPr>
              <a:t>GeeksforGeeks. (n.d.). F1 score in machine learning. GeeksforGeeks. Retrieved May 31, 2026, from </a:t>
            </a:r>
            <a:r>
              <a:rPr lang="en-US" sz="1599" b="1" u="sng">
                <a:solidFill>
                  <a:srgbClr val="185079"/>
                </a:solidFill>
                <a:latin typeface="Poppins Bold"/>
                <a:ea typeface="Poppins Bold"/>
                <a:cs typeface="Poppins Bold"/>
                <a:sym typeface="Poppins Bold"/>
                <a:hlinkClick r:id="rId12" tooltip="https://www.geeksforgeeks.org/machine-learning/f1-score-in-machine-learning/"/>
              </a:rPr>
              <a:t>https://www.geeksforgeeks.org/machine-learning/f1-score-in-machine-learning/</a:t>
            </a:r>
          </a:p>
          <a:p>
            <a:pPr marL="345439" lvl="1" indent="-172720" algn="l">
              <a:lnSpc>
                <a:spcPts val="3023"/>
              </a:lnSpc>
              <a:buAutoNum type="arabicPeriod"/>
            </a:pPr>
            <a:r>
              <a:rPr lang="en-US" sz="1599" b="1" u="sng">
                <a:solidFill>
                  <a:srgbClr val="185079"/>
                </a:solidFill>
                <a:latin typeface="Poppins Bold"/>
                <a:ea typeface="Poppins Bold"/>
                <a:cs typeface="Poppins Bold"/>
                <a:sym typeface="Poppins Bold"/>
              </a:rPr>
              <a:t>GeeksforGeeks. (n.d.). Confusion matrix in machine learning. GeeksforGeeks. Retrieved May 31, 2026, from </a:t>
            </a:r>
            <a:r>
              <a:rPr lang="en-US" sz="1599" b="1" u="sng">
                <a:solidFill>
                  <a:srgbClr val="185079"/>
                </a:solidFill>
                <a:latin typeface="Poppins Bold"/>
                <a:ea typeface="Poppins Bold"/>
                <a:cs typeface="Poppins Bold"/>
                <a:sym typeface="Poppins Bold"/>
                <a:hlinkClick r:id="rId13" tooltip="https://www.geeksforgeeks.org/machine-learning/confusion-matrix-machine-learning/"/>
              </a:rPr>
              <a:t>https://www.geeksforgeeks.org/machine-learning/confusion-matrix-machine-learning/</a:t>
            </a:r>
          </a:p>
          <a:p>
            <a:pPr algn="l">
              <a:lnSpc>
                <a:spcPts val="3023"/>
              </a:lnSpc>
            </a:pPr>
            <a:endParaRPr lang="en-US" sz="1599" b="1" u="sng">
              <a:solidFill>
                <a:srgbClr val="185079"/>
              </a:solidFill>
              <a:latin typeface="Poppins Bold"/>
              <a:ea typeface="Poppins Bold"/>
              <a:cs typeface="Poppins Bold"/>
              <a:sym typeface="Poppins Bold"/>
              <a:hlinkClick r:id="rId13" tooltip="https://www.geeksforgeeks.org/machine-learning/confusion-matrix-machine-learning/"/>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1028700" y="3193386"/>
            <a:ext cx="10155052" cy="1965964"/>
          </a:xfrm>
          <a:prstGeom prst="rect">
            <a:avLst/>
          </a:prstGeom>
        </p:spPr>
        <p:txBody>
          <a:bodyPr lIns="0" tIns="0" rIns="0" bIns="0" rtlCol="0" anchor="t">
            <a:spAutoFit/>
          </a:bodyPr>
          <a:lstStyle/>
          <a:p>
            <a:pPr algn="l">
              <a:lnSpc>
                <a:spcPts val="15120"/>
              </a:lnSpc>
            </a:pPr>
            <a:r>
              <a:rPr lang="en-US" sz="14000" spc="-826">
                <a:solidFill>
                  <a:srgbClr val="185079"/>
                </a:solidFill>
                <a:latin typeface="Open Sauce"/>
                <a:ea typeface="Open Sauce"/>
                <a:cs typeface="Open Sauce"/>
                <a:sym typeface="Open Sauce"/>
              </a:rPr>
              <a:t>THANK YOU</a:t>
            </a:r>
          </a:p>
        </p:txBody>
      </p:sp>
      <p:sp>
        <p:nvSpPr>
          <p:cNvPr id="4" name="Freeform 4"/>
          <p:cNvSpPr/>
          <p:nvPr/>
        </p:nvSpPr>
        <p:spPr>
          <a:xfrm>
            <a:off x="5608035" y="-4316939"/>
            <a:ext cx="22188662" cy="18920878"/>
          </a:xfrm>
          <a:custGeom>
            <a:avLst/>
            <a:gdLst/>
            <a:ahLst/>
            <a:cxnLst/>
            <a:rect l="l" t="t" r="r" b="b"/>
            <a:pathLst>
              <a:path w="22188662" h="18920878">
                <a:moveTo>
                  <a:pt x="0" y="0"/>
                </a:moveTo>
                <a:lnTo>
                  <a:pt x="22188662" y="0"/>
                </a:lnTo>
                <a:lnTo>
                  <a:pt x="22188662" y="18920878"/>
                </a:lnTo>
                <a:lnTo>
                  <a:pt x="0" y="18920878"/>
                </a:lnTo>
                <a:lnTo>
                  <a:pt x="0" y="0"/>
                </a:lnTo>
                <a:close/>
              </a:path>
            </a:pathLst>
          </a:custGeom>
          <a:blipFill>
            <a:blip r:embed="rId3"/>
            <a:stretch>
              <a:fillRect/>
            </a:stretch>
          </a:blipFill>
        </p:spPr>
      </p:sp>
      <p:sp>
        <p:nvSpPr>
          <p:cNvPr id="5" name="TextBox 5"/>
          <p:cNvSpPr txBox="1"/>
          <p:nvPr/>
        </p:nvSpPr>
        <p:spPr>
          <a:xfrm>
            <a:off x="1028700" y="5001928"/>
            <a:ext cx="13616443" cy="2253611"/>
          </a:xfrm>
          <a:prstGeom prst="rect">
            <a:avLst/>
          </a:prstGeom>
        </p:spPr>
        <p:txBody>
          <a:bodyPr lIns="0" tIns="0" rIns="0" bIns="0" rtlCol="0" anchor="t">
            <a:spAutoFit/>
          </a:bodyPr>
          <a:lstStyle/>
          <a:p>
            <a:pPr marL="0" lvl="0" indent="0" algn="l">
              <a:lnSpc>
                <a:spcPts val="17279"/>
              </a:lnSpc>
              <a:spcBef>
                <a:spcPct val="0"/>
              </a:spcBef>
            </a:pPr>
            <a:r>
              <a:rPr lang="en-US" sz="15999" b="1" spc="-943">
                <a:solidFill>
                  <a:srgbClr val="185079"/>
                </a:solidFill>
                <a:latin typeface="Open Sauce Semi-Bold"/>
                <a:ea typeface="Open Sauce Semi-Bold"/>
                <a:cs typeface="Open Sauce Semi-Bold"/>
                <a:sym typeface="Open Sauce Semi-Bold"/>
              </a:rPr>
              <a:t>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1948</Words>
  <Application>Microsoft Office PowerPoint</Application>
  <PresentationFormat>Custom</PresentationFormat>
  <Paragraphs>139</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Open Sauce Medium</vt:lpstr>
      <vt:lpstr>Open Sauce Bold</vt:lpstr>
      <vt:lpstr>Open Sauce</vt:lpstr>
      <vt:lpstr>Poppins</vt:lpstr>
      <vt:lpstr>Open Sauce Semi-Bold</vt:lpstr>
      <vt:lpstr>Arial</vt:lpstr>
      <vt:lpstr>Poppins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Model Research</dc:title>
  <cp:lastModifiedBy>ASMI SHIRKESAMANT - 70112400035</cp:lastModifiedBy>
  <cp:revision>2</cp:revision>
  <dcterms:created xsi:type="dcterms:W3CDTF">2006-08-16T00:00:00Z</dcterms:created>
  <dcterms:modified xsi:type="dcterms:W3CDTF">2026-05-31T16:05:47Z</dcterms:modified>
  <dc:identifier>DAHLOHJMb2w</dc:identifier>
</cp:coreProperties>
</file>